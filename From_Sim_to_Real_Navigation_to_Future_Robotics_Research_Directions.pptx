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embeddedFontLst>
    <p:embeddedFont>
      <p:font typeface="Inter SemiBold"/>
      <p:regular r:id="rId18"/>
      <p:bold r:id="rId19"/>
      <p:italic r:id="rId20"/>
      <p:boldItalic r:id="rId21"/>
    </p:embeddedFont>
    <p:embeddedFont>
      <p:font typeface="Inter"/>
      <p:bold r:id="rId22"/>
      <p:boldItalic r:id="rId23"/>
    </p:embeddedFont>
    <p:embeddedFont>
      <p:font typeface="Inter ExtraBold"/>
      <p:bold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iGTWVZaScSJLCcCTTsSDyksCby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SemiBold-italic.fntdata"/><Relationship Id="rId22" Type="http://schemas.openxmlformats.org/officeDocument/2006/relationships/font" Target="fonts/Inter-bold.fntdata"/><Relationship Id="rId21" Type="http://schemas.openxmlformats.org/officeDocument/2006/relationships/font" Target="fonts/InterSemiBold-boldItalic.fntdata"/><Relationship Id="rId24" Type="http://schemas.openxmlformats.org/officeDocument/2006/relationships/font" Target="fonts/InterExtraBold-bold.fntdata"/><Relationship Id="rId23"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customschemas.google.com/relationships/presentationmetadata" Target="metadata"/><Relationship Id="rId25" Type="http://schemas.openxmlformats.org/officeDocument/2006/relationships/font" Target="fonts/InterExtraBold-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0:30</a:t>
            </a:r>
            <a:br>
              <a:rPr lang="en-US"/>
            </a:br>
            <a:r>
              <a:rPr lang="en-US"/>
              <a:t>Visual cue: Open on the complete simulator, immediately framing the work as an integrated research system.</a:t>
            </a:r>
            <a:br>
              <a:rPr lang="en-US"/>
            </a:br>
            <a:br>
              <a:rPr lang="en-US"/>
            </a:br>
            <a:r>
              <a:rPr lang="en-US"/>
              <a:t>Speaker notes:</a:t>
            </a:r>
            <a:br>
              <a:rPr lang="en-US"/>
            </a:br>
            <a:r>
              <a:rPr lang="en-US"/>
              <a:t>Thank you for the opportunity to discuss my work. I will briefly present the navigation and validation framework developed for my BSc thesis, then use it as a starting point for possible collaboration directions with 3DOM. The central idea is transferability: the result is not tied to one robot, but to a modular framework that preserves the high-level planner while adapting perception, estimation and actuation to each platform.</a:t>
            </a:r>
            <a:endParaRPr/>
          </a:p>
        </p:txBody>
      </p:sp>
      <p:sp>
        <p:nvSpPr>
          <p:cNvPr id="33" name="Google Shape;33;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1:00</a:t>
            </a:r>
            <a:br>
              <a:rPr lang="en-US"/>
            </a:br>
            <a:r>
              <a:rPr lang="en-US"/>
              <a:t>Visual cue: Use the two robots as evidence of hands-on work, then move quickly across the timeline.</a:t>
            </a:r>
            <a:br>
              <a:rPr lang="en-US"/>
            </a:br>
            <a:br>
              <a:rPr lang="en-US"/>
            </a:br>
            <a:r>
              <a:rPr lang="en-US"/>
              <a:t>Speaker notes:</a:t>
            </a:r>
            <a:br>
              <a:rPr lang="en-US"/>
            </a:br>
            <a:r>
              <a:rPr lang="en-US"/>
              <a:t>My background is in computer science, but my strongest interest is at the boundary between algorithms and physical systems. Personal robotics projects led to an autonomous navigation prototype and then to the sim-to-real thesis, including the tracked robot extension. Across that progression I worked with C and C++, embedded firmware, LiDAR sensing, state estimation, communication and real deployment. The next step I am exploring is research collaboration.</a:t>
            </a:r>
            <a:endParaRPr/>
          </a:p>
        </p:txBody>
      </p:sp>
      <p:sp>
        <p:nvSpPr>
          <p:cNvPr id="48" name="Google Shape;4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1:00</a:t>
            </a:r>
            <a:br>
              <a:rPr lang="en-US"/>
            </a:br>
            <a:r>
              <a:rPr lang="en-US"/>
              <a:t>Visual cue: The visual bridge is the thesis problem: the same task is seen once in simulation and once through hardware telemetry.</a:t>
            </a:r>
            <a:br>
              <a:rPr lang="en-US"/>
            </a:br>
            <a:br>
              <a:rPr lang="en-US"/>
            </a:br>
            <a:r>
              <a:rPr lang="en-US"/>
              <a:t>Speaker notes:</a:t>
            </a:r>
            <a:br>
              <a:rPr lang="en-US"/>
            </a:br>
            <a:r>
              <a:rPr lang="en-US"/>
              <a:t>The thesis started from a practical objective: identify what must be added around a planner before it can operate on a real robot. Simulation hides several effects that become dominant on hardware, including slip, motor asymmetry, sensor noise, delays and model mismatch. My objective was therefore not to force simulation and hardware to look identical, but to make their differences measurable and attributable to specific layers of the system.</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1:15</a:t>
            </a:r>
            <a:br>
              <a:rPr lang="en-US"/>
            </a:br>
            <a:r>
              <a:rPr lang="en-US"/>
              <a:t>Visual cue: Keep the audience on the dark planner block, then move outward to the adapters and feedback loop.</a:t>
            </a:r>
            <a:br>
              <a:rPr lang="en-US"/>
            </a:br>
            <a:br>
              <a:rPr lang="en-US"/>
            </a:br>
            <a:r>
              <a:rPr lang="en-US"/>
              <a:t>Speaker notes:</a:t>
            </a:r>
            <a:br>
              <a:rPr lang="en-US"/>
            </a:br>
            <a:r>
              <a:rPr lang="en-US"/>
              <a:t>This is the architecture that organizes the work. LiDAR, IMU and encoders are fused into a state estimate. The planner selects a motion primitive and produces a local reference. A tracker converts that reference into speed and yaw-rate targets, while the low-level layer maps them to the physical actuators. The planner is deliberately isolated from platform details. The feedback path closes the loop through measurements and telemetry, and it is also what makes experimental validation possible.</a:t>
            </a:r>
            <a:endParaRPr/>
          </a:p>
        </p:txBody>
      </p:sp>
      <p:sp>
        <p:nvSpPr>
          <p:cNvPr id="119" name="Google Shape;119;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0:50</a:t>
            </a:r>
            <a:br>
              <a:rPr lang="en-US"/>
            </a:br>
            <a:r>
              <a:rPr lang="en-US"/>
              <a:t>Visual cue: Treat the three columns as one stack: simulator, hardware bridge, and evidence.</a:t>
            </a:r>
            <a:br>
              <a:rPr lang="en-US"/>
            </a:br>
            <a:br>
              <a:rPr lang="en-US"/>
            </a:br>
            <a:r>
              <a:rPr lang="en-US"/>
              <a:t>Speaker notes:</a:t>
            </a:r>
            <a:br>
              <a:rPr lang="en-US"/>
            </a:br>
            <a:r>
              <a:rPr lang="en-US"/>
              <a:t>The contribution is broader than connecting a planner to motors. I developed a custom simulator with synthetic sensing and reporting, the hardware integration including firmware and a structured serial protocol, and the analysis pipeline used across structured, unstructured and mixed navigation. This is the engineering layer that turns an algorithm into an experimentally testable robotic system.</a:t>
            </a:r>
            <a:endParaRPr/>
          </a:p>
        </p:txBody>
      </p:sp>
      <p:sp>
        <p:nvSpPr>
          <p:cNvPr id="170" name="Google Shape;170;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0:40</a:t>
            </a:r>
            <a:br>
              <a:rPr lang="en-US"/>
            </a:br>
            <a:r>
              <a:rPr lang="en-US"/>
              <a:t>Visual cue: Let the images carry the slide: simulator first, then the two physical platforms.</a:t>
            </a:r>
            <a:br>
              <a:rPr lang="en-US"/>
            </a:br>
            <a:br>
              <a:rPr lang="en-US"/>
            </a:br>
            <a:r>
              <a:rPr lang="en-US"/>
              <a:t>Speaker notes:</a:t>
            </a:r>
            <a:br>
              <a:rPr lang="en-US"/>
            </a:br>
            <a:r>
              <a:rPr lang="en-US"/>
              <a:t>This is the system in operation. The simulator exposes sensing, state, selected references and telemetry. The same navigation architecture is then connected to the robot car and the tracked robot. The physical implementation changes, but the high-level decision logic and experimental workflow remain shared.</a:t>
            </a:r>
            <a:endParaRPr/>
          </a:p>
        </p:txBody>
      </p:sp>
      <p:sp>
        <p:nvSpPr>
          <p:cNvPr id="201" name="Google Shape;201;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1:25</a:t>
            </a:r>
            <a:br>
              <a:rPr lang="en-US"/>
            </a:br>
            <a:r>
              <a:rPr lang="en-US"/>
              <a:t>Visual cue: Read the four thesis metrics together, then summarize the result through the three KPI blocks.</a:t>
            </a:r>
            <a:br>
              <a:rPr lang="en-US"/>
            </a:br>
            <a:br>
              <a:rPr lang="en-US"/>
            </a:br>
            <a:r>
              <a:rPr lang="en-US"/>
              <a:t>Speaker notes:</a:t>
            </a:r>
            <a:br>
              <a:rPr lang="en-US"/>
            </a:br>
            <a:r>
              <a:rPr lang="en-US"/>
              <a:t>The comparison was performed at three levels: ideal simulation, a hardware-informed simulated baseline and the physical robot. The four plots are taken directly from the thesis analysis and compare tracking error, path efficiency, mission duration and planner computation. All navigation modes completed their tasks and planner computation remained below forty milliseconds at p95. The larger gap was not decision failure, but the physical cost of execution: heading dynamics, recovery motion, slip and actuator behavior.</a:t>
            </a:r>
            <a:endParaRPr/>
          </a:p>
        </p:txBody>
      </p:sp>
      <p:sp>
        <p:nvSpPr>
          <p:cNvPr id="223" name="Google Shape;223;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1:30</a:t>
            </a:r>
            <a:br>
              <a:rPr lang="en-US"/>
            </a:br>
            <a:r>
              <a:rPr lang="en-US"/>
              <a:t>Visual cue: The center block is the thesis in one visual: what stayed fixed and what changed.</a:t>
            </a:r>
            <a:br>
              <a:rPr lang="en-US"/>
            </a:br>
            <a:br>
              <a:rPr lang="en-US"/>
            </a:br>
            <a:r>
              <a:rPr lang="en-US"/>
              <a:t>Speaker notes:</a:t>
            </a:r>
            <a:br>
              <a:rPr lang="en-US"/>
            </a:br>
            <a:r>
              <a:rPr lang="en-US"/>
              <a:t>The second platform tests the claim that the framework is not specific to the car. The car and tracked robot have different physical behavior, especially during rotation. The execution chain therefore changed in the locomotion model, actuator mapping and hardware interface. The planner, navigation logic, gate selection and validation workflow remained the same. This is the strongest condensed message of the thesis: portability is achieved by isolating embodiment-specific layers.</a:t>
            </a:r>
            <a:endParaRPr/>
          </a:p>
        </p:txBody>
      </p:sp>
      <p:sp>
        <p:nvSpPr>
          <p:cNvPr id="248" name="Google Shape;248;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1:00</a:t>
            </a:r>
            <a:br>
              <a:rPr lang="en-US"/>
            </a:br>
            <a:r>
              <a:rPr lang="en-US"/>
              <a:t>Visual cue: Read the slide horizontally: each existing capability opens a richer research problem with 3DOM.</a:t>
            </a:r>
            <a:br>
              <a:rPr lang="en-US"/>
            </a:br>
            <a:br>
              <a:rPr lang="en-US"/>
            </a:br>
            <a:r>
              <a:rPr lang="en-US"/>
              <a:t>Speaker notes:</a:t>
            </a:r>
            <a:br>
              <a:rPr lang="en-US"/>
            </a:br>
            <a:r>
              <a:rPr lang="en-US"/>
              <a:t>The connection I see is not only thematic. My work contributes a modular navigation and validation base. The four strongest links to 3DOM are GNSS-denied autonomy, spatial perception and mapping, field deployment, and autonomous systems. The possible collaboration therefore has a clear interface: reuse the transfer and validation framework while introducing more capable sensors, environments and spatial representations.</a:t>
            </a:r>
            <a:endParaRPr/>
          </a:p>
        </p:txBody>
      </p:sp>
      <p:sp>
        <p:nvSpPr>
          <p:cNvPr id="272" name="Google Shape;2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0:40</a:t>
            </a:r>
            <a:br>
              <a:rPr lang="en-US"/>
            </a:br>
            <a:r>
              <a:rPr lang="en-US"/>
              <a:t>Visual cue: Move quickly from completed work on the left to the research horizon on the right.</a:t>
            </a:r>
            <a:br>
              <a:rPr lang="en-US"/>
            </a:br>
            <a:br>
              <a:rPr lang="en-US"/>
            </a:br>
            <a:r>
              <a:rPr lang="en-US"/>
              <a:t>Speaker notes:</a:t>
            </a:r>
            <a:br>
              <a:rPr lang="en-US"/>
            </a:br>
            <a:r>
              <a:rPr lang="en-US"/>
              <a:t>I see the thesis as the first layer of a longer trajectory. The robot car established the complete framework, and the tracked robot tested portability. The next transition is field deployment on larger platforms with richer perception and less controlled environments. From there, the research can expand toward field robotics, spatial perception and collaborative autonomy without committing the roadmap to one specific platform.</a:t>
            </a:r>
            <a:endParaRPr/>
          </a:p>
        </p:txBody>
      </p:sp>
      <p:sp>
        <p:nvSpPr>
          <p:cNvPr id="316" name="Google Shape;316;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1:00</a:t>
            </a:r>
            <a:br>
              <a:rPr lang="en-US"/>
            </a:br>
            <a:r>
              <a:rPr lang="en-US"/>
              <a:t>Visual cue: Give equal time to ground and aerial robotics, then explain how each direction stresses the framework differently.</a:t>
            </a:r>
            <a:br>
              <a:rPr lang="en-US"/>
            </a:br>
            <a:br>
              <a:rPr lang="en-US"/>
            </a:br>
            <a:r>
              <a:rPr lang="en-US"/>
              <a:t>Speaker notes:</a:t>
            </a:r>
            <a:br>
              <a:rPr lang="en-US"/>
            </a:br>
            <a:r>
              <a:rPr lang="en-US"/>
              <a:t>I see both directions as scientifically interesting because they stress the framework in different ways. Leo Rover is the most direct continuation of the thesis: it preserves ground mobility while introducing outdoor SLAM, exploration and GNSS-denied validation. The UAV direction is particularly interesting because it would require rethinking planning and autonomy on a fundamentally different embodiment, including dynamic mission replanning and large-scale monitoring.</a:t>
            </a:r>
            <a:endParaRPr/>
          </a:p>
        </p:txBody>
      </p:sp>
      <p:sp>
        <p:nvSpPr>
          <p:cNvPr id="352" name="Google Shape;352;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ed5247b40f_7_7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3ed5247b40f_7_7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0:35</a:t>
            </a:r>
            <a:br>
              <a:rPr lang="en-US"/>
            </a:br>
            <a:r>
              <a:rPr lang="en-US"/>
              <a:t>Visual cue: Follow the numbered progression from left to right, then identify vision and 3D perception as enabling technologies.</a:t>
            </a:r>
            <a:br>
              <a:rPr lang="en-US"/>
            </a:br>
            <a:br>
              <a:rPr lang="en-US"/>
            </a:br>
            <a:r>
              <a:rPr lang="en-US"/>
              <a:t>Speaker notes:</a:t>
            </a:r>
            <a:br>
              <a:rPr lang="en-US"/>
            </a:br>
            <a:r>
              <a:rPr lang="en-US"/>
              <a:t>My interests form a progression rather than a collection of independent topics. Reliable navigation leads to SLAM and mapping, then to operation without GNSS, field robotics and eventually multi-robot systems. Computer vision and 3D perception are enabling technologies across this progression. The common goal is autonomy that remains transferable, spatially grounded and experimentally accountable.</a:t>
            </a:r>
            <a:endParaRPr/>
          </a:p>
        </p:txBody>
      </p:sp>
      <p:sp>
        <p:nvSpPr>
          <p:cNvPr id="382" name="Google Shape;382;g3ed5247b40f_7_7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0:30</a:t>
            </a:r>
            <a:br>
              <a:rPr lang="en-US"/>
            </a:br>
            <a:r>
              <a:rPr lang="en-US"/>
              <a:t>Visual cue: Close on the platform progression, then use the final question to open the discussion.</a:t>
            </a:r>
            <a:br>
              <a:rPr lang="en-US"/>
            </a:br>
            <a:br>
              <a:rPr lang="en-US"/>
            </a:br>
            <a:r>
              <a:rPr lang="en-US"/>
              <a:t>Speaker notes:</a:t>
            </a:r>
            <a:br>
              <a:rPr lang="en-US"/>
            </a:br>
            <a:r>
              <a:rPr lang="en-US"/>
              <a:t>The platforms can change from the robot car to tracked, ground, aerial and collaborative systems. The durable contribution is the framework that makes this transfer observable and testable. I would be very interested in discussing which platform offers the strongest next step for extending and testing the framework. Thank you.</a:t>
            </a:r>
            <a:endParaRPr/>
          </a:p>
        </p:txBody>
      </p:sp>
      <p:sp>
        <p:nvSpPr>
          <p:cNvPr id="429" name="Google Shape;429;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p:cSld name="RESEARCH">
    <p:bg>
      <p:bgPr>
        <a:solidFill>
          <a:srgbClr val="FFFFFF"/>
        </a:solidFill>
      </p:bgPr>
    </p:bg>
    <p:spTree>
      <p:nvGrpSpPr>
        <p:cNvPr id="12" name="Shape 12"/>
        <p:cNvGrpSpPr/>
        <p:nvPr/>
      </p:nvGrpSpPr>
      <p:grpSpPr>
        <a:xfrm>
          <a:off x="0" y="0"/>
          <a:ext cx="0" cy="0"/>
          <a:chOff x="0" y="0"/>
          <a:chExt cx="0" cy="0"/>
        </a:xfrm>
      </p:grpSpPr>
      <p:cxnSp>
        <p:nvCxnSpPr>
          <p:cNvPr id="13" name="Google Shape;13;p16"/>
          <p:cNvCxnSpPr/>
          <p:nvPr/>
        </p:nvCxnSpPr>
        <p:spPr>
          <a:xfrm>
            <a:off x="502920" y="228600"/>
            <a:ext cx="11183112" cy="0"/>
          </a:xfrm>
          <a:prstGeom prst="straightConnector1">
            <a:avLst/>
          </a:prstGeom>
          <a:noFill/>
          <a:ln cap="flat" cmpd="sng" w="10150">
            <a:solidFill>
              <a:srgbClr val="DCE5EE"/>
            </a:solidFill>
            <a:prstDash val="solid"/>
            <a:round/>
            <a:headEnd len="sm" w="sm" type="none"/>
            <a:tailEnd len="sm" w="sm" type="none"/>
          </a:ln>
        </p:spPr>
      </p:cxnSp>
      <p:sp>
        <p:nvSpPr>
          <p:cNvPr id="14" name="Google Shape;14;p16"/>
          <p:cNvSpPr/>
          <p:nvPr/>
        </p:nvSpPr>
        <p:spPr>
          <a:xfrm>
            <a:off x="530352" y="54864"/>
            <a:ext cx="420624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657A"/>
              </a:buClr>
              <a:buSzPts val="750"/>
              <a:buFont typeface="Arial"/>
              <a:buNone/>
            </a:pPr>
            <a:r>
              <a:rPr b="1" i="0" lang="en-US" sz="750" u="none" cap="none" strike="noStrike">
                <a:solidFill>
                  <a:srgbClr val="50657A"/>
                </a:solidFill>
                <a:latin typeface="Arial"/>
                <a:ea typeface="Arial"/>
                <a:cs typeface="Arial"/>
                <a:sym typeface="Arial"/>
              </a:rPr>
              <a:t>ISMAELE CARBONARI  ·  FBK 3DOM</a:t>
            </a:r>
            <a:endParaRPr b="0" i="0" sz="750" u="none" cap="none" strike="noStrike">
              <a:solidFill>
                <a:schemeClr val="dk1"/>
              </a:solidFill>
              <a:latin typeface="Arial"/>
              <a:ea typeface="Arial"/>
              <a:cs typeface="Arial"/>
              <a:sym typeface="Arial"/>
            </a:endParaRPr>
          </a:p>
        </p:txBody>
      </p:sp>
      <p:sp>
        <p:nvSpPr>
          <p:cNvPr id="15" name="Google Shape;15;p16"/>
          <p:cNvSpPr txBox="1"/>
          <p:nvPr>
            <p:ph idx="12" type="sldNum"/>
          </p:nvPr>
        </p:nvSpPr>
        <p:spPr>
          <a:xfrm>
            <a:off x="11247120" y="6537960"/>
            <a:ext cx="411480" cy="164592"/>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1">
  <p:cSld name="RESEARCH (g3ed5247b40f_49_0)">
    <p:bg>
      <p:bgPr>
        <a:solidFill>
          <a:srgbClr val="FFFFFF"/>
        </a:solidFill>
      </p:bgPr>
    </p:bg>
    <p:spTree>
      <p:nvGrpSpPr>
        <p:cNvPr id="16" name="Shape 16"/>
        <p:cNvGrpSpPr/>
        <p:nvPr/>
      </p:nvGrpSpPr>
      <p:grpSpPr>
        <a:xfrm>
          <a:off x="0" y="0"/>
          <a:ext cx="0" cy="0"/>
          <a:chOff x="0" y="0"/>
          <a:chExt cx="0" cy="0"/>
        </a:xfrm>
      </p:grpSpPr>
      <p:sp>
        <p:nvSpPr>
          <p:cNvPr id="17" name="Google Shape;17;g3ed5247b40f_7_234"/>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2">
  <p:cSld name="RESEARCH (g3ed5247b40f_64_0)">
    <p:bg>
      <p:bgPr>
        <a:solidFill>
          <a:srgbClr val="FFFFFF"/>
        </a:solidFill>
      </p:bgPr>
    </p:bg>
    <p:spTree>
      <p:nvGrpSpPr>
        <p:cNvPr id="18" name="Shape 18"/>
        <p:cNvGrpSpPr/>
        <p:nvPr/>
      </p:nvGrpSpPr>
      <p:grpSpPr>
        <a:xfrm>
          <a:off x="0" y="0"/>
          <a:ext cx="0" cy="0"/>
          <a:chOff x="0" y="0"/>
          <a:chExt cx="0" cy="0"/>
        </a:xfrm>
      </p:grpSpPr>
      <p:sp>
        <p:nvSpPr>
          <p:cNvPr id="19" name="Google Shape;19;g3ed5247b40f_7_372"/>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3">
  <p:cSld name="RESEARCH (g3ed5247b40f_78_0)">
    <p:bg>
      <p:bgPr>
        <a:solidFill>
          <a:srgbClr val="FFFFFF"/>
        </a:solidFill>
      </p:bgPr>
    </p:bg>
    <p:spTree>
      <p:nvGrpSpPr>
        <p:cNvPr id="20" name="Shape 20"/>
        <p:cNvGrpSpPr/>
        <p:nvPr/>
      </p:nvGrpSpPr>
      <p:grpSpPr>
        <a:xfrm>
          <a:off x="0" y="0"/>
          <a:ext cx="0" cy="0"/>
          <a:chOff x="0" y="0"/>
          <a:chExt cx="0" cy="0"/>
        </a:xfrm>
      </p:grpSpPr>
      <p:sp>
        <p:nvSpPr>
          <p:cNvPr id="21" name="Google Shape;21;g3ed5247b40f_7_487"/>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4">
  <p:cSld name="RESEARCH (g3ed5247b40f_85_0)">
    <p:bg>
      <p:bgPr>
        <a:solidFill>
          <a:srgbClr val="FFFFFF"/>
        </a:solidFill>
      </p:bgPr>
    </p:bg>
    <p:spTree>
      <p:nvGrpSpPr>
        <p:cNvPr id="22" name="Shape 22"/>
        <p:cNvGrpSpPr/>
        <p:nvPr/>
      </p:nvGrpSpPr>
      <p:grpSpPr>
        <a:xfrm>
          <a:off x="0" y="0"/>
          <a:ext cx="0" cy="0"/>
          <a:chOff x="0" y="0"/>
          <a:chExt cx="0" cy="0"/>
        </a:xfrm>
      </p:grpSpPr>
      <p:sp>
        <p:nvSpPr>
          <p:cNvPr id="23" name="Google Shape;23;g3ed5247b40f_7_548"/>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5">
  <p:cSld name="RESEARCH (g3ed5247b40f_106_0)">
    <p:bg>
      <p:bgPr>
        <a:solidFill>
          <a:srgbClr val="FFFFFF"/>
        </a:solidFill>
      </p:bgPr>
    </p:bg>
    <p:spTree>
      <p:nvGrpSpPr>
        <p:cNvPr id="24" name="Shape 24"/>
        <p:cNvGrpSpPr/>
        <p:nvPr/>
      </p:nvGrpSpPr>
      <p:grpSpPr>
        <a:xfrm>
          <a:off x="0" y="0"/>
          <a:ext cx="0" cy="0"/>
          <a:chOff x="0" y="0"/>
          <a:chExt cx="0" cy="0"/>
        </a:xfrm>
      </p:grpSpPr>
      <p:sp>
        <p:nvSpPr>
          <p:cNvPr id="25" name="Google Shape;25;g3ed5247b40f_7_726"/>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6">
  <p:cSld name="RESEARCH (g3ed5247b40f_127_0)">
    <p:bg>
      <p:bgPr>
        <a:solidFill>
          <a:srgbClr val="FFFFFF"/>
        </a:solidFill>
      </p:bgPr>
    </p:bg>
    <p:spTree>
      <p:nvGrpSpPr>
        <p:cNvPr id="26" name="Shape 26"/>
        <p:cNvGrpSpPr/>
        <p:nvPr/>
      </p:nvGrpSpPr>
      <p:grpSpPr>
        <a:xfrm>
          <a:off x="0" y="0"/>
          <a:ext cx="0" cy="0"/>
          <a:chOff x="0" y="0"/>
          <a:chExt cx="0" cy="0"/>
        </a:xfrm>
      </p:grpSpPr>
      <p:sp>
        <p:nvSpPr>
          <p:cNvPr id="27" name="Google Shape;27;g3ed5247b40f_7_966"/>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7">
  <p:cSld name="RESEARCH (g3ed5247b40f_148_0)">
    <p:bg>
      <p:bgPr>
        <a:solidFill>
          <a:srgbClr val="FFFFFF"/>
        </a:solidFill>
      </p:bgPr>
    </p:bg>
    <p:spTree>
      <p:nvGrpSpPr>
        <p:cNvPr id="28" name="Shape 28"/>
        <p:cNvGrpSpPr/>
        <p:nvPr/>
      </p:nvGrpSpPr>
      <p:grpSpPr>
        <a:xfrm>
          <a:off x="0" y="0"/>
          <a:ext cx="0" cy="0"/>
          <a:chOff x="0" y="0"/>
          <a:chExt cx="0" cy="0"/>
        </a:xfrm>
      </p:grpSpPr>
      <p:sp>
        <p:nvSpPr>
          <p:cNvPr id="29" name="Google Shape;29;g3ed5247b40f_7_1238"/>
          <p:cNvSpPr txBox="1"/>
          <p:nvPr>
            <p:ph idx="12" type="sldNum"/>
          </p:nvPr>
        </p:nvSpPr>
        <p:spPr>
          <a:xfrm>
            <a:off x="11247120" y="6537960"/>
            <a:ext cx="411600" cy="16470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800" u="none" cap="none" strike="noStrike">
                <a:solidFill>
                  <a:srgbClr val="6F8193"/>
                </a:solidFill>
                <a:latin typeface="Arial"/>
                <a:ea typeface="Arial"/>
                <a:cs typeface="Arial"/>
                <a:sym typeface="Arial"/>
              </a:defRPr>
            </a:lvl1pPr>
            <a:lvl2pPr indent="0" lvl="1" marL="0" marR="0" algn="r">
              <a:spcBef>
                <a:spcPts val="0"/>
              </a:spcBef>
              <a:buNone/>
              <a:defRPr b="0" i="0" sz="800" u="none" cap="none" strike="noStrike">
                <a:solidFill>
                  <a:srgbClr val="6F8193"/>
                </a:solidFill>
                <a:latin typeface="Arial"/>
                <a:ea typeface="Arial"/>
                <a:cs typeface="Arial"/>
                <a:sym typeface="Arial"/>
              </a:defRPr>
            </a:lvl2pPr>
            <a:lvl3pPr indent="0" lvl="2" marL="0" marR="0" algn="r">
              <a:spcBef>
                <a:spcPts val="0"/>
              </a:spcBef>
              <a:buNone/>
              <a:defRPr b="0" i="0" sz="800" u="none" cap="none" strike="noStrike">
                <a:solidFill>
                  <a:srgbClr val="6F8193"/>
                </a:solidFill>
                <a:latin typeface="Arial"/>
                <a:ea typeface="Arial"/>
                <a:cs typeface="Arial"/>
                <a:sym typeface="Arial"/>
              </a:defRPr>
            </a:lvl3pPr>
            <a:lvl4pPr indent="0" lvl="3" marL="0" marR="0" algn="r">
              <a:spcBef>
                <a:spcPts val="0"/>
              </a:spcBef>
              <a:buNone/>
              <a:defRPr b="0" i="0" sz="800" u="none" cap="none" strike="noStrike">
                <a:solidFill>
                  <a:srgbClr val="6F8193"/>
                </a:solidFill>
                <a:latin typeface="Arial"/>
                <a:ea typeface="Arial"/>
                <a:cs typeface="Arial"/>
                <a:sym typeface="Arial"/>
              </a:defRPr>
            </a:lvl4pPr>
            <a:lvl5pPr indent="0" lvl="4" marL="0" marR="0" algn="r">
              <a:spcBef>
                <a:spcPts val="0"/>
              </a:spcBef>
              <a:buNone/>
              <a:defRPr b="0" i="0" sz="800" u="none" cap="none" strike="noStrike">
                <a:solidFill>
                  <a:srgbClr val="6F8193"/>
                </a:solidFill>
                <a:latin typeface="Arial"/>
                <a:ea typeface="Arial"/>
                <a:cs typeface="Arial"/>
                <a:sym typeface="Arial"/>
              </a:defRPr>
            </a:lvl5pPr>
            <a:lvl6pPr indent="0" lvl="5" marL="0" marR="0" algn="r">
              <a:spcBef>
                <a:spcPts val="0"/>
              </a:spcBef>
              <a:buNone/>
              <a:defRPr b="0" i="0" sz="800" u="none" cap="none" strike="noStrike">
                <a:solidFill>
                  <a:srgbClr val="6F8193"/>
                </a:solidFill>
                <a:latin typeface="Arial"/>
                <a:ea typeface="Arial"/>
                <a:cs typeface="Arial"/>
                <a:sym typeface="Arial"/>
              </a:defRPr>
            </a:lvl6pPr>
            <a:lvl7pPr indent="0" lvl="6" marL="0" marR="0" algn="r">
              <a:spcBef>
                <a:spcPts val="0"/>
              </a:spcBef>
              <a:buNone/>
              <a:defRPr b="0" i="0" sz="800" u="none" cap="none" strike="noStrike">
                <a:solidFill>
                  <a:srgbClr val="6F8193"/>
                </a:solidFill>
                <a:latin typeface="Arial"/>
                <a:ea typeface="Arial"/>
                <a:cs typeface="Arial"/>
                <a:sym typeface="Arial"/>
              </a:defRPr>
            </a:lvl7pPr>
            <a:lvl8pPr indent="0" lvl="7" marL="0" marR="0" algn="r">
              <a:spcBef>
                <a:spcPts val="0"/>
              </a:spcBef>
              <a:buNone/>
              <a:defRPr b="0" i="0" sz="800" u="none" cap="none" strike="noStrike">
                <a:solidFill>
                  <a:srgbClr val="6F8193"/>
                </a:solidFill>
                <a:latin typeface="Arial"/>
                <a:ea typeface="Arial"/>
                <a:cs typeface="Arial"/>
                <a:sym typeface="Arial"/>
              </a:defRPr>
            </a:lvl8pPr>
            <a:lvl9pPr indent="0" lvl="8" marL="0" marR="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4"/>
          <p:cNvSpPr txBox="1"/>
          <p:nvPr>
            <p:ph idx="12" type="sldNum"/>
          </p:nvPr>
        </p:nvSpPr>
        <p:spPr>
          <a:xfrm>
            <a:off x="11247120" y="6537960"/>
            <a:ext cx="411480" cy="164592"/>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800" u="none" cap="none" strike="noStrike">
                <a:solidFill>
                  <a:srgbClr val="6F8193"/>
                </a:solidFill>
                <a:latin typeface="Arial"/>
                <a:ea typeface="Arial"/>
                <a:cs typeface="Arial"/>
                <a:sym typeface="Arial"/>
              </a:defRPr>
            </a:lvl1pPr>
            <a:lvl2pPr indent="0" lvl="1" marL="0" marR="0" rtl="0" algn="r">
              <a:spcBef>
                <a:spcPts val="0"/>
              </a:spcBef>
              <a:buNone/>
              <a:defRPr b="0" i="0" sz="800" u="none" cap="none" strike="noStrike">
                <a:solidFill>
                  <a:srgbClr val="6F8193"/>
                </a:solidFill>
                <a:latin typeface="Arial"/>
                <a:ea typeface="Arial"/>
                <a:cs typeface="Arial"/>
                <a:sym typeface="Arial"/>
              </a:defRPr>
            </a:lvl2pPr>
            <a:lvl3pPr indent="0" lvl="2" marL="0" marR="0" rtl="0" algn="r">
              <a:spcBef>
                <a:spcPts val="0"/>
              </a:spcBef>
              <a:buNone/>
              <a:defRPr b="0" i="0" sz="800" u="none" cap="none" strike="noStrike">
                <a:solidFill>
                  <a:srgbClr val="6F8193"/>
                </a:solidFill>
                <a:latin typeface="Arial"/>
                <a:ea typeface="Arial"/>
                <a:cs typeface="Arial"/>
                <a:sym typeface="Arial"/>
              </a:defRPr>
            </a:lvl3pPr>
            <a:lvl4pPr indent="0" lvl="3" marL="0" marR="0" rtl="0" algn="r">
              <a:spcBef>
                <a:spcPts val="0"/>
              </a:spcBef>
              <a:buNone/>
              <a:defRPr b="0" i="0" sz="800" u="none" cap="none" strike="noStrike">
                <a:solidFill>
                  <a:srgbClr val="6F8193"/>
                </a:solidFill>
                <a:latin typeface="Arial"/>
                <a:ea typeface="Arial"/>
                <a:cs typeface="Arial"/>
                <a:sym typeface="Arial"/>
              </a:defRPr>
            </a:lvl4pPr>
            <a:lvl5pPr indent="0" lvl="4" marL="0" marR="0" rtl="0" algn="r">
              <a:spcBef>
                <a:spcPts val="0"/>
              </a:spcBef>
              <a:buNone/>
              <a:defRPr b="0" i="0" sz="800" u="none" cap="none" strike="noStrike">
                <a:solidFill>
                  <a:srgbClr val="6F8193"/>
                </a:solidFill>
                <a:latin typeface="Arial"/>
                <a:ea typeface="Arial"/>
                <a:cs typeface="Arial"/>
                <a:sym typeface="Arial"/>
              </a:defRPr>
            </a:lvl5pPr>
            <a:lvl6pPr indent="0" lvl="5" marL="0" marR="0" rtl="0" algn="r">
              <a:spcBef>
                <a:spcPts val="0"/>
              </a:spcBef>
              <a:buNone/>
              <a:defRPr b="0" i="0" sz="800" u="none" cap="none" strike="noStrike">
                <a:solidFill>
                  <a:srgbClr val="6F8193"/>
                </a:solidFill>
                <a:latin typeface="Arial"/>
                <a:ea typeface="Arial"/>
                <a:cs typeface="Arial"/>
                <a:sym typeface="Arial"/>
              </a:defRPr>
            </a:lvl6pPr>
            <a:lvl7pPr indent="0" lvl="6" marL="0" marR="0" rtl="0" algn="r">
              <a:spcBef>
                <a:spcPts val="0"/>
              </a:spcBef>
              <a:buNone/>
              <a:defRPr b="0" i="0" sz="800" u="none" cap="none" strike="noStrike">
                <a:solidFill>
                  <a:srgbClr val="6F8193"/>
                </a:solidFill>
                <a:latin typeface="Arial"/>
                <a:ea typeface="Arial"/>
                <a:cs typeface="Arial"/>
                <a:sym typeface="Arial"/>
              </a:defRPr>
            </a:lvl7pPr>
            <a:lvl8pPr indent="0" lvl="7" marL="0" marR="0" rtl="0" algn="r">
              <a:spcBef>
                <a:spcPts val="0"/>
              </a:spcBef>
              <a:buNone/>
              <a:defRPr b="0" i="0" sz="800" u="none" cap="none" strike="noStrike">
                <a:solidFill>
                  <a:srgbClr val="6F8193"/>
                </a:solidFill>
                <a:latin typeface="Arial"/>
                <a:ea typeface="Arial"/>
                <a:cs typeface="Arial"/>
                <a:sym typeface="Arial"/>
              </a:defRPr>
            </a:lvl8pPr>
            <a:lvl9pPr indent="0" lvl="8" marL="0" marR="0" rtl="0" algn="r">
              <a:spcBef>
                <a:spcPts val="0"/>
              </a:spcBef>
              <a:buNone/>
              <a:defRPr b="0" i="0" sz="800" u="none" cap="none" strike="noStrike">
                <a:solidFill>
                  <a:srgbClr val="6F819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custom_slide01_hero.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custom_slide02_car.jpg"/><Relationship Id="rId4" Type="http://schemas.openxmlformats.org/officeDocument/2006/relationships/image" Target="../media/custom_slide02_tracked.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custom_slide03_physical.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2.png"/><Relationship Id="rId4" Type="http://schemas.openxmlformats.org/officeDocument/2006/relationships/image" Target="../media/custom_slide04_architecture.png"/><Relationship Id="rId5" Type="http://schemas.openxmlformats.org/officeDocument/2006/relationships/image" Target="../media/image2.png"/><Relationship Id="rId6" Type="http://schemas.openxmlformats.org/officeDocument/2006/relationships/image" Target="../media/image7.png"/><Relationship Id="rId7"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custom_slide05_simulation.png"/><Relationship Id="rId5" Type="http://schemas.openxmlformats.org/officeDocument/2006/relationships/image" Target="../media/custom_slide05_car.jpg"/><Relationship Id="rId6" Type="http://schemas.openxmlformats.org/officeDocument/2006/relationships/image" Target="../media/custom_slide05_validation.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custom_slide06_simulation.png"/><Relationship Id="rId5" Type="http://schemas.openxmlformats.org/officeDocument/2006/relationships/image" Target="../media/custom_slide06_car.jpg"/><Relationship Id="rId6" Type="http://schemas.openxmlformats.org/officeDocument/2006/relationships/image" Target="../media/custom_slide06_tracked.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2.png"/><Relationship Id="rId4" Type="http://schemas.openxmlformats.org/officeDocument/2006/relationships/image" Target="../media/custom_slide07_multi_metric.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2.png"/><Relationship Id="rId4" Type="http://schemas.openxmlformats.org/officeDocument/2006/relationships/image" Target="../media/custom_slide08_car.jpg"/><Relationship Id="rId5" Type="http://schemas.openxmlformats.org/officeDocument/2006/relationships/image" Target="../media/custom_slide08_tracked.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custom_slide10_progression.png"/><Relationship Id="rId5" Type="http://schemas.openxmlformats.org/officeDocument/2006/relationships/image" Target="../media/custom_slide10_car.jpg"/><Relationship Id="rId6" Type="http://schemas.openxmlformats.org/officeDocument/2006/relationships/image" Target="../media/custom_slide10_tracked.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1.jpg"/><Relationship Id="rId5" Type="http://schemas.openxmlformats.org/officeDocument/2006/relationships/image" Target="../media/image4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custom_slide12_arrow.png"/><Relationship Id="rId5" Type="http://schemas.openxmlformats.org/officeDocument/2006/relationships/image" Target="../media/image30.png"/><Relationship Id="rId6" Type="http://schemas.openxmlformats.org/officeDocument/2006/relationships/image" Target="../media/image36.png"/><Relationship Id="rId7"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custom_slide13_car.jpg"/><Relationship Id="rId5" Type="http://schemas.openxmlformats.org/officeDocument/2006/relationships/image" Target="../media/custom_slide13_tracked.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 name="Shape 34"/>
        <p:cNvGrpSpPr/>
        <p:nvPr/>
      </p:nvGrpSpPr>
      <p:grpSpPr>
        <a:xfrm>
          <a:off x="0" y="0"/>
          <a:ext cx="0" cy="0"/>
          <a:chOff x="0" y="0"/>
          <a:chExt cx="0" cy="0"/>
        </a:xfrm>
      </p:grpSpPr>
      <p:sp>
        <p:nvSpPr>
          <p:cNvPr id="35" name="Google Shape;35;p1"/>
          <p:cNvSpPr/>
          <p:nvPr/>
        </p:nvSpPr>
        <p:spPr>
          <a:xfrm>
            <a:off x="6477000" y="0"/>
            <a:ext cx="5715000" cy="6858000"/>
          </a:xfrm>
          <a:prstGeom prst="rect">
            <a:avLst/>
          </a:prstGeom>
          <a:solidFill>
            <a:srgbClr val="0B234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6" name="Google Shape;36;p1"/>
          <p:cNvPicPr preferRelativeResize="0"/>
          <p:nvPr/>
        </p:nvPicPr>
        <p:blipFill rotWithShape="1">
          <a:blip r:embed="rId4">
            <a:alphaModFix/>
          </a:blip>
          <a:srcRect b="0" l="0" r="0" t="0"/>
          <a:stretch/>
        </p:blipFill>
        <p:spPr>
          <a:xfrm>
            <a:off x="6667500" y="381000"/>
            <a:ext cx="5334000" cy="6096000"/>
          </a:xfrm>
          <a:prstGeom prst="roundRect">
            <a:avLst>
              <a:gd fmla="val 3571" name="adj"/>
            </a:avLst>
          </a:prstGeom>
          <a:noFill/>
          <a:ln>
            <a:noFill/>
          </a:ln>
        </p:spPr>
      </p:pic>
      <p:sp>
        <p:nvSpPr>
          <p:cNvPr id="37" name="Google Shape;37;p1"/>
          <p:cNvSpPr/>
          <p:nvPr/>
        </p:nvSpPr>
        <p:spPr>
          <a:xfrm>
            <a:off x="6286500" y="0"/>
            <a:ext cx="381000" cy="6858000"/>
          </a:xfrm>
          <a:prstGeom prst="rect">
            <a:avLst/>
          </a:prstGeom>
          <a:solidFill>
            <a:srgbClr val="1667A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 name="Google Shape;38;p1"/>
          <p:cNvSpPr/>
          <p:nvPr/>
        </p:nvSpPr>
        <p:spPr>
          <a:xfrm>
            <a:off x="762000" y="762000"/>
            <a:ext cx="4762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100">
                <a:solidFill>
                  <a:srgbClr val="1667A8"/>
                </a:solidFill>
                <a:latin typeface="Arial"/>
                <a:ea typeface="Arial"/>
                <a:cs typeface="Arial"/>
                <a:sym typeface="Arial"/>
              </a:rPr>
              <a:t>RESEARCH DISCUSSION</a:t>
            </a:r>
            <a:endParaRPr b="1" sz="1100">
              <a:solidFill>
                <a:srgbClr val="1667A8"/>
              </a:solidFill>
              <a:latin typeface="Arial"/>
              <a:ea typeface="Arial"/>
              <a:cs typeface="Arial"/>
              <a:sym typeface="Arial"/>
            </a:endParaRPr>
          </a:p>
        </p:txBody>
      </p:sp>
      <p:sp>
        <p:nvSpPr>
          <p:cNvPr id="39" name="Google Shape;39;p1"/>
          <p:cNvSpPr/>
          <p:nvPr/>
        </p:nvSpPr>
        <p:spPr>
          <a:xfrm>
            <a:off x="762000" y="1238250"/>
            <a:ext cx="5143500" cy="3048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885">
                <a:solidFill>
                  <a:srgbClr val="0B2341"/>
                </a:solidFill>
                <a:latin typeface="Arial"/>
                <a:ea typeface="Arial"/>
                <a:cs typeface="Arial"/>
                <a:sym typeface="Arial"/>
              </a:rPr>
              <a:t>From Sim-to-Real</a:t>
            </a:r>
            <a:endParaRPr b="1" sz="3885">
              <a:solidFill>
                <a:srgbClr val="0B2341"/>
              </a:solidFill>
              <a:latin typeface="Arial"/>
              <a:ea typeface="Arial"/>
              <a:cs typeface="Arial"/>
              <a:sym typeface="Arial"/>
            </a:endParaRPr>
          </a:p>
          <a:p>
            <a:pPr indent="0" lvl="0" marL="0" rtl="0" algn="l">
              <a:spcBef>
                <a:spcPts val="750"/>
              </a:spcBef>
              <a:spcAft>
                <a:spcPts val="0"/>
              </a:spcAft>
              <a:buNone/>
            </a:pPr>
            <a:r>
              <a:rPr b="1" lang="en-US" sz="3885">
                <a:solidFill>
                  <a:srgbClr val="0B2341"/>
                </a:solidFill>
                <a:latin typeface="Arial"/>
                <a:ea typeface="Arial"/>
                <a:cs typeface="Arial"/>
                <a:sym typeface="Arial"/>
              </a:rPr>
              <a:t>Navigation to Future</a:t>
            </a:r>
            <a:endParaRPr b="1" sz="3885">
              <a:solidFill>
                <a:srgbClr val="0B2341"/>
              </a:solidFill>
              <a:latin typeface="Arial"/>
              <a:ea typeface="Arial"/>
              <a:cs typeface="Arial"/>
              <a:sym typeface="Arial"/>
            </a:endParaRPr>
          </a:p>
          <a:p>
            <a:pPr indent="0" lvl="0" marL="0" rtl="0" algn="l">
              <a:spcBef>
                <a:spcPts val="750"/>
              </a:spcBef>
              <a:spcAft>
                <a:spcPts val="0"/>
              </a:spcAft>
              <a:buNone/>
            </a:pPr>
            <a:r>
              <a:rPr b="1" lang="en-US" sz="3885">
                <a:solidFill>
                  <a:srgbClr val="0B2341"/>
                </a:solidFill>
                <a:latin typeface="Arial"/>
                <a:ea typeface="Arial"/>
                <a:cs typeface="Arial"/>
                <a:sym typeface="Arial"/>
              </a:rPr>
              <a:t>Robotics Research</a:t>
            </a:r>
            <a:endParaRPr b="1" sz="3885">
              <a:solidFill>
                <a:srgbClr val="0B2341"/>
              </a:solidFill>
              <a:latin typeface="Arial"/>
              <a:ea typeface="Arial"/>
              <a:cs typeface="Arial"/>
              <a:sym typeface="Arial"/>
            </a:endParaRPr>
          </a:p>
          <a:p>
            <a:pPr indent="0" lvl="0" marL="0" rtl="0" algn="l">
              <a:spcBef>
                <a:spcPts val="750"/>
              </a:spcBef>
              <a:spcAft>
                <a:spcPts val="0"/>
              </a:spcAft>
              <a:buNone/>
            </a:pPr>
            <a:r>
              <a:rPr b="1" lang="en-US" sz="3885">
                <a:solidFill>
                  <a:srgbClr val="0B2341"/>
                </a:solidFill>
                <a:latin typeface="Arial"/>
                <a:ea typeface="Arial"/>
                <a:cs typeface="Arial"/>
                <a:sym typeface="Arial"/>
              </a:rPr>
              <a:t>Directions</a:t>
            </a:r>
            <a:endParaRPr b="1" sz="3885">
              <a:solidFill>
                <a:srgbClr val="0B2341"/>
              </a:solidFill>
              <a:latin typeface="Arial"/>
              <a:ea typeface="Arial"/>
              <a:cs typeface="Arial"/>
              <a:sym typeface="Arial"/>
            </a:endParaRPr>
          </a:p>
        </p:txBody>
      </p:sp>
      <p:sp>
        <p:nvSpPr>
          <p:cNvPr id="40" name="Google Shape;40;p1"/>
          <p:cNvSpPr/>
          <p:nvPr/>
        </p:nvSpPr>
        <p:spPr>
          <a:xfrm>
            <a:off x="762000" y="4476750"/>
            <a:ext cx="762000" cy="57300"/>
          </a:xfrm>
          <a:prstGeom prst="rect">
            <a:avLst/>
          </a:prstGeom>
          <a:solidFill>
            <a:srgbClr val="2C9AB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 name="Google Shape;41;p1"/>
          <p:cNvSpPr/>
          <p:nvPr/>
        </p:nvSpPr>
        <p:spPr>
          <a:xfrm>
            <a:off x="762000" y="4857750"/>
            <a:ext cx="47625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2200">
                <a:solidFill>
                  <a:srgbClr val="0B2341"/>
                </a:solidFill>
                <a:latin typeface="Arial"/>
                <a:ea typeface="Arial"/>
                <a:cs typeface="Arial"/>
                <a:sym typeface="Arial"/>
              </a:rPr>
              <a:t>Ismaele Carbonari</a:t>
            </a:r>
            <a:endParaRPr b="1" sz="2200">
              <a:solidFill>
                <a:srgbClr val="0B2341"/>
              </a:solidFill>
              <a:latin typeface="Arial"/>
              <a:ea typeface="Arial"/>
              <a:cs typeface="Arial"/>
              <a:sym typeface="Arial"/>
            </a:endParaRPr>
          </a:p>
        </p:txBody>
      </p:sp>
      <p:sp>
        <p:nvSpPr>
          <p:cNvPr id="42" name="Google Shape;42;p1"/>
          <p:cNvSpPr/>
          <p:nvPr/>
        </p:nvSpPr>
        <p:spPr>
          <a:xfrm>
            <a:off x="762000" y="5238750"/>
            <a:ext cx="4762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400">
                <a:solidFill>
                  <a:srgbClr val="53677A"/>
                </a:solidFill>
                <a:latin typeface="Arial"/>
                <a:ea typeface="Arial"/>
                <a:cs typeface="Arial"/>
                <a:sym typeface="Arial"/>
              </a:rPr>
              <a:t>University of Trento</a:t>
            </a:r>
            <a:endParaRPr b="0" sz="1400">
              <a:solidFill>
                <a:srgbClr val="53677A"/>
              </a:solidFill>
              <a:latin typeface="Arial"/>
              <a:ea typeface="Arial"/>
              <a:cs typeface="Arial"/>
              <a:sym typeface="Arial"/>
            </a:endParaRPr>
          </a:p>
        </p:txBody>
      </p:sp>
      <p:sp>
        <p:nvSpPr>
          <p:cNvPr id="43" name="Google Shape;43;p1"/>
          <p:cNvSpPr/>
          <p:nvPr/>
        </p:nvSpPr>
        <p:spPr>
          <a:xfrm>
            <a:off x="762000" y="5810250"/>
            <a:ext cx="4762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300">
                <a:solidFill>
                  <a:srgbClr val="1667A8"/>
                </a:solidFill>
                <a:latin typeface="Arial"/>
                <a:ea typeface="Arial"/>
                <a:cs typeface="Arial"/>
                <a:sym typeface="Arial"/>
              </a:rPr>
              <a:t>Meeting with FBK 3DOM</a:t>
            </a:r>
            <a:endParaRPr b="1" sz="1300">
              <a:solidFill>
                <a:srgbClr val="1667A8"/>
              </a:solidFill>
              <a:latin typeface="Arial"/>
              <a:ea typeface="Arial"/>
              <a:cs typeface="Arial"/>
              <a:sym typeface="Arial"/>
            </a:endParaRPr>
          </a:p>
        </p:txBody>
      </p:sp>
      <p:sp>
        <p:nvSpPr>
          <p:cNvPr id="44" name="Google Shape;44;p1"/>
          <p:cNvSpPr/>
          <p:nvPr/>
        </p:nvSpPr>
        <p:spPr>
          <a:xfrm>
            <a:off x="762000" y="6096000"/>
            <a:ext cx="4762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0" lang="en-US" sz="1100">
                <a:solidFill>
                  <a:srgbClr val="53677A"/>
                </a:solidFill>
                <a:latin typeface="Arial"/>
                <a:ea typeface="Arial"/>
                <a:cs typeface="Arial"/>
                <a:sym typeface="Arial"/>
              </a:rPr>
              <a:t>June 2026</a:t>
            </a:r>
            <a:endParaRPr b="0" sz="1100">
              <a:solidFill>
                <a:srgbClr val="53677A"/>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2"/>
          <p:cNvSpPr/>
          <p:nvPr/>
        </p:nvSpPr>
        <p:spPr>
          <a:xfrm>
            <a:off x="566928" y="393192"/>
            <a:ext cx="347472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850"/>
              <a:buFont typeface="Arial"/>
              <a:buNone/>
            </a:pPr>
            <a:r>
              <a:rPr b="1" i="0" lang="en-US" sz="850" u="none" cap="none" strike="noStrike">
                <a:solidFill>
                  <a:srgbClr val="1667A8"/>
                </a:solidFill>
                <a:latin typeface="Arial"/>
                <a:ea typeface="Arial"/>
                <a:cs typeface="Arial"/>
                <a:sym typeface="Arial"/>
              </a:rPr>
              <a:t>BACKGROUND</a:t>
            </a:r>
            <a:endParaRPr b="0" i="0" sz="850" u="none" cap="none" strike="noStrike">
              <a:solidFill>
                <a:schemeClr val="dk1"/>
              </a:solidFill>
              <a:latin typeface="Arial"/>
              <a:ea typeface="Arial"/>
              <a:cs typeface="Arial"/>
              <a:sym typeface="Arial"/>
            </a:endParaRPr>
          </a:p>
        </p:txBody>
      </p:sp>
      <p:sp>
        <p:nvSpPr>
          <p:cNvPr id="51" name="Google Shape;51;p2"/>
          <p:cNvSpPr/>
          <p:nvPr/>
        </p:nvSpPr>
        <p:spPr>
          <a:xfrm>
            <a:off x="566928" y="630936"/>
            <a:ext cx="1088136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2700"/>
              <a:buFont typeface="Arial"/>
              <a:buNone/>
            </a:pPr>
            <a:r>
              <a:rPr b="1" i="0" lang="en-US" sz="2700" u="none" cap="none" strike="noStrike">
                <a:solidFill>
                  <a:srgbClr val="0B2341"/>
                </a:solidFill>
                <a:latin typeface="Arial"/>
                <a:ea typeface="Arial"/>
                <a:cs typeface="Arial"/>
                <a:sym typeface="Arial"/>
              </a:rPr>
              <a:t>About me</a:t>
            </a:r>
            <a:endParaRPr b="0" i="0" sz="2700" u="none" cap="none" strike="noStrike">
              <a:solidFill>
                <a:schemeClr val="dk1"/>
              </a:solidFill>
              <a:latin typeface="Arial"/>
              <a:ea typeface="Arial"/>
              <a:cs typeface="Arial"/>
              <a:sym typeface="Arial"/>
            </a:endParaRPr>
          </a:p>
        </p:txBody>
      </p:sp>
      <p:sp>
        <p:nvSpPr>
          <p:cNvPr id="52" name="Google Shape;52;p2"/>
          <p:cNvSpPr/>
          <p:nvPr/>
        </p:nvSpPr>
        <p:spPr>
          <a:xfrm>
            <a:off x="585216" y="1069848"/>
            <a:ext cx="10607040" cy="31089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77A"/>
              </a:buClr>
              <a:buSzPts val="1150"/>
              <a:buFont typeface="Arial"/>
              <a:buNone/>
            </a:pPr>
            <a:r>
              <a:rPr b="0" i="0" lang="en-US" sz="1150" u="none" cap="none" strike="noStrike">
                <a:solidFill>
                  <a:srgbClr val="53677A"/>
                </a:solidFill>
                <a:latin typeface="Arial"/>
                <a:ea typeface="Arial"/>
                <a:cs typeface="Arial"/>
                <a:sym typeface="Arial"/>
              </a:rPr>
              <a:t>Building robotic systems from software architecture to physical deployment</a:t>
            </a:r>
            <a:endParaRPr b="0" i="0" sz="1150" u="none" cap="none" strike="noStrike">
              <a:solidFill>
                <a:schemeClr val="dk1"/>
              </a:solidFill>
              <a:latin typeface="Arial"/>
              <a:ea typeface="Arial"/>
              <a:cs typeface="Arial"/>
              <a:sym typeface="Arial"/>
            </a:endParaRPr>
          </a:p>
        </p:txBody>
      </p:sp>
      <p:pic>
        <p:nvPicPr>
          <p:cNvPr descr="Four-wheel robot car developed for the thesis" id="53" name="Google Shape;53;p2"/>
          <p:cNvPicPr preferRelativeResize="0"/>
          <p:nvPr/>
        </p:nvPicPr>
        <p:blipFill rotWithShape="1">
          <a:blip r:embed="rId3">
            <a:alphaModFix/>
          </a:blip>
          <a:srcRect b="0" l="0" r="0" t="0"/>
          <a:stretch/>
        </p:blipFill>
        <p:spPr>
          <a:xfrm>
            <a:off x="594360" y="1554480"/>
            <a:ext cx="3703320" cy="2788920"/>
          </a:xfrm>
          <a:prstGeom prst="rect">
            <a:avLst/>
          </a:prstGeom>
          <a:noFill/>
          <a:ln>
            <a:noFill/>
          </a:ln>
        </p:spPr>
      </p:pic>
      <p:sp>
        <p:nvSpPr>
          <p:cNvPr id="54" name="Google Shape;54;p2"/>
          <p:cNvSpPr/>
          <p:nvPr/>
        </p:nvSpPr>
        <p:spPr>
          <a:xfrm>
            <a:off x="594360" y="1554480"/>
            <a:ext cx="3703320" cy="2788920"/>
          </a:xfrm>
          <a:prstGeom prst="rect">
            <a:avLst/>
          </a:prstGeom>
          <a:solidFill>
            <a:srgbClr val="FFFFFF">
              <a:alpha val="0"/>
            </a:srgbClr>
          </a:solidFill>
          <a:ln cap="flat" cmpd="sng" w="12700">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racked robot used for portability testing" id="55" name="Google Shape;55;p2"/>
          <p:cNvPicPr preferRelativeResize="0"/>
          <p:nvPr/>
        </p:nvPicPr>
        <p:blipFill rotWithShape="1">
          <a:blip r:embed="rId4">
            <a:alphaModFix/>
          </a:blip>
          <a:srcRect b="0" l="0" r="0" t="0"/>
          <a:stretch/>
        </p:blipFill>
        <p:spPr>
          <a:xfrm>
            <a:off x="4471416" y="1554480"/>
            <a:ext cx="2999232" cy="2788920"/>
          </a:xfrm>
          <a:prstGeom prst="rect">
            <a:avLst/>
          </a:prstGeom>
          <a:noFill/>
          <a:ln>
            <a:noFill/>
          </a:ln>
        </p:spPr>
      </p:pic>
      <p:sp>
        <p:nvSpPr>
          <p:cNvPr id="56" name="Google Shape;56;p2"/>
          <p:cNvSpPr/>
          <p:nvPr/>
        </p:nvSpPr>
        <p:spPr>
          <a:xfrm>
            <a:off x="4471416" y="1554480"/>
            <a:ext cx="2999232" cy="2788920"/>
          </a:xfrm>
          <a:prstGeom prst="rect">
            <a:avLst/>
          </a:prstGeom>
          <a:solidFill>
            <a:srgbClr val="FFFFFF">
              <a:alpha val="0"/>
            </a:srgbClr>
          </a:solidFill>
          <a:ln cap="flat" cmpd="sng" w="12700">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909560" y="1554480"/>
            <a:ext cx="3474720" cy="3200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341"/>
              </a:buClr>
              <a:buSzPts val="2000"/>
              <a:buFont typeface="Arial"/>
              <a:buNone/>
            </a:pPr>
            <a:r>
              <a:rPr b="1" i="0" lang="en-US" sz="2000" u="none" cap="none" strike="noStrike">
                <a:solidFill>
                  <a:srgbClr val="0B2341"/>
                </a:solidFill>
                <a:latin typeface="Arial"/>
                <a:ea typeface="Arial"/>
                <a:cs typeface="Arial"/>
                <a:sym typeface="Arial"/>
              </a:rPr>
              <a:t>BSc Computer Science</a:t>
            </a:r>
            <a:endParaRPr b="0" i="0" sz="2000" u="none" cap="none" strike="noStrike">
              <a:solidFill>
                <a:schemeClr val="dk1"/>
              </a:solidFill>
              <a:latin typeface="Arial"/>
              <a:ea typeface="Arial"/>
              <a:cs typeface="Arial"/>
              <a:sym typeface="Arial"/>
            </a:endParaRPr>
          </a:p>
        </p:txBody>
      </p:sp>
      <p:sp>
        <p:nvSpPr>
          <p:cNvPr id="58" name="Google Shape;58;p2"/>
          <p:cNvSpPr/>
          <p:nvPr/>
        </p:nvSpPr>
        <p:spPr>
          <a:xfrm>
            <a:off x="7909560" y="1911096"/>
            <a:ext cx="3474720" cy="24688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1200"/>
              <a:buFont typeface="Arial"/>
              <a:buNone/>
            </a:pPr>
            <a:r>
              <a:rPr b="1" i="0" lang="en-US" sz="1200" u="none" cap="none" strike="noStrike">
                <a:solidFill>
                  <a:srgbClr val="1667A8"/>
                </a:solidFill>
                <a:latin typeface="Arial"/>
                <a:ea typeface="Arial"/>
                <a:cs typeface="Arial"/>
                <a:sym typeface="Arial"/>
              </a:rPr>
              <a:t>University of Trento</a:t>
            </a:r>
            <a:endParaRPr b="0" i="0" sz="1200" u="none" cap="none" strike="noStrike">
              <a:solidFill>
                <a:schemeClr val="dk1"/>
              </a:solidFill>
              <a:latin typeface="Arial"/>
              <a:ea typeface="Arial"/>
              <a:cs typeface="Arial"/>
              <a:sym typeface="Arial"/>
            </a:endParaRPr>
          </a:p>
        </p:txBody>
      </p:sp>
      <p:cxnSp>
        <p:nvCxnSpPr>
          <p:cNvPr id="59" name="Google Shape;59;p2"/>
          <p:cNvCxnSpPr/>
          <p:nvPr/>
        </p:nvCxnSpPr>
        <p:spPr>
          <a:xfrm>
            <a:off x="7909560" y="2313432"/>
            <a:ext cx="3200400" cy="0"/>
          </a:xfrm>
          <a:prstGeom prst="straightConnector1">
            <a:avLst/>
          </a:prstGeom>
          <a:noFill/>
          <a:ln cap="flat" cmpd="sng" w="12700">
            <a:solidFill>
              <a:srgbClr val="DCE5EE"/>
            </a:solidFill>
            <a:prstDash val="solid"/>
            <a:round/>
            <a:headEnd len="sm" w="sm" type="none"/>
            <a:tailEnd len="sm" w="sm" type="none"/>
          </a:ln>
        </p:spPr>
      </p:cxnSp>
      <p:sp>
        <p:nvSpPr>
          <p:cNvPr id="60" name="Google Shape;60;p2"/>
          <p:cNvSpPr/>
          <p:nvPr/>
        </p:nvSpPr>
        <p:spPr>
          <a:xfrm>
            <a:off x="7927848" y="2615184"/>
            <a:ext cx="73152" cy="73152"/>
          </a:xfrm>
          <a:prstGeom prst="ellipse">
            <a:avLst/>
          </a:prstGeom>
          <a:solidFill>
            <a:srgbClr val="1667A8"/>
          </a:solidFill>
          <a:ln cap="flat" cmpd="sng" w="12700">
            <a:solidFill>
              <a:srgbClr val="1667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8092440" y="2496312"/>
            <a:ext cx="326440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22235"/>
              </a:buClr>
              <a:buSzPts val="1300"/>
              <a:buFont typeface="Arial"/>
              <a:buNone/>
            </a:pPr>
            <a:r>
              <a:rPr b="0" i="0" lang="en-US" sz="1300" u="none" cap="none" strike="noStrike">
                <a:solidFill>
                  <a:srgbClr val="122235"/>
                </a:solidFill>
                <a:latin typeface="Arial"/>
                <a:ea typeface="Arial"/>
                <a:cs typeface="Arial"/>
                <a:sym typeface="Arial"/>
              </a:rPr>
              <a:t>Autonomous navigation</a:t>
            </a:r>
            <a:endParaRPr b="0" i="0" sz="1300" u="none" cap="none" strike="noStrike">
              <a:solidFill>
                <a:schemeClr val="dk1"/>
              </a:solidFill>
              <a:latin typeface="Arial"/>
              <a:ea typeface="Arial"/>
              <a:cs typeface="Arial"/>
              <a:sym typeface="Arial"/>
            </a:endParaRPr>
          </a:p>
        </p:txBody>
      </p:sp>
      <p:sp>
        <p:nvSpPr>
          <p:cNvPr id="62" name="Google Shape;62;p2"/>
          <p:cNvSpPr/>
          <p:nvPr/>
        </p:nvSpPr>
        <p:spPr>
          <a:xfrm>
            <a:off x="7927848" y="3072384"/>
            <a:ext cx="73152" cy="73152"/>
          </a:xfrm>
          <a:prstGeom prst="ellipse">
            <a:avLst/>
          </a:prstGeom>
          <a:solidFill>
            <a:srgbClr val="1667A8"/>
          </a:solidFill>
          <a:ln cap="flat" cmpd="sng" w="12700">
            <a:solidFill>
              <a:srgbClr val="1667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8092440" y="2953512"/>
            <a:ext cx="326440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22235"/>
              </a:buClr>
              <a:buSzPts val="1300"/>
              <a:buFont typeface="Arial"/>
              <a:buNone/>
            </a:pPr>
            <a:r>
              <a:rPr b="0" i="0" lang="en-US" sz="1300" u="none" cap="none" strike="noStrike">
                <a:solidFill>
                  <a:srgbClr val="122235"/>
                </a:solidFill>
                <a:latin typeface="Arial"/>
                <a:ea typeface="Arial"/>
                <a:cs typeface="Arial"/>
                <a:sym typeface="Arial"/>
              </a:rPr>
              <a:t>State estimation</a:t>
            </a:r>
            <a:endParaRPr b="0" i="0" sz="1300" u="none" cap="none" strike="noStrike">
              <a:solidFill>
                <a:schemeClr val="dk1"/>
              </a:solidFill>
              <a:latin typeface="Arial"/>
              <a:ea typeface="Arial"/>
              <a:cs typeface="Arial"/>
              <a:sym typeface="Arial"/>
            </a:endParaRPr>
          </a:p>
        </p:txBody>
      </p:sp>
      <p:sp>
        <p:nvSpPr>
          <p:cNvPr id="64" name="Google Shape;64;p2"/>
          <p:cNvSpPr/>
          <p:nvPr/>
        </p:nvSpPr>
        <p:spPr>
          <a:xfrm>
            <a:off x="7927848" y="3529584"/>
            <a:ext cx="73152" cy="73152"/>
          </a:xfrm>
          <a:prstGeom prst="ellipse">
            <a:avLst/>
          </a:prstGeom>
          <a:solidFill>
            <a:srgbClr val="1667A8"/>
          </a:solidFill>
          <a:ln cap="flat" cmpd="sng" w="12700">
            <a:solidFill>
              <a:srgbClr val="1667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8092440" y="3410712"/>
            <a:ext cx="326440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22235"/>
              </a:buClr>
              <a:buSzPts val="1300"/>
              <a:buFont typeface="Arial"/>
              <a:buNone/>
            </a:pPr>
            <a:r>
              <a:rPr b="0" i="0" lang="en-US" sz="1300" u="none" cap="none" strike="noStrike">
                <a:solidFill>
                  <a:srgbClr val="122235"/>
                </a:solidFill>
                <a:latin typeface="Arial"/>
                <a:ea typeface="Arial"/>
                <a:cs typeface="Arial"/>
                <a:sym typeface="Arial"/>
              </a:rPr>
              <a:t>Embedded systems</a:t>
            </a:r>
            <a:endParaRPr b="0" i="0" sz="1300" u="none" cap="none" strike="noStrike">
              <a:solidFill>
                <a:schemeClr val="dk1"/>
              </a:solidFill>
              <a:latin typeface="Arial"/>
              <a:ea typeface="Arial"/>
              <a:cs typeface="Arial"/>
              <a:sym typeface="Arial"/>
            </a:endParaRPr>
          </a:p>
        </p:txBody>
      </p:sp>
      <p:sp>
        <p:nvSpPr>
          <p:cNvPr id="66" name="Google Shape;66;p2"/>
          <p:cNvSpPr/>
          <p:nvPr/>
        </p:nvSpPr>
        <p:spPr>
          <a:xfrm>
            <a:off x="7927848" y="3986784"/>
            <a:ext cx="73152" cy="73152"/>
          </a:xfrm>
          <a:prstGeom prst="ellipse">
            <a:avLst/>
          </a:prstGeom>
          <a:solidFill>
            <a:srgbClr val="1667A8"/>
          </a:solidFill>
          <a:ln cap="flat" cmpd="sng" w="12700">
            <a:solidFill>
              <a:srgbClr val="1667A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8092440" y="3867912"/>
            <a:ext cx="3264408"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22235"/>
              </a:buClr>
              <a:buSzPts val="1300"/>
              <a:buFont typeface="Arial"/>
              <a:buNone/>
            </a:pPr>
            <a:r>
              <a:rPr b="0" i="0" lang="en-US" sz="1300" u="none" cap="none" strike="noStrike">
                <a:solidFill>
                  <a:srgbClr val="122235"/>
                </a:solidFill>
                <a:latin typeface="Arial"/>
                <a:ea typeface="Arial"/>
                <a:cs typeface="Arial"/>
                <a:sym typeface="Arial"/>
              </a:rPr>
              <a:t>Real robot deployment</a:t>
            </a:r>
            <a:endParaRPr b="0" i="0" sz="1300" u="none" cap="none" strike="noStrike">
              <a:solidFill>
                <a:schemeClr val="dk1"/>
              </a:solidFill>
              <a:latin typeface="Arial"/>
              <a:ea typeface="Arial"/>
              <a:cs typeface="Arial"/>
              <a:sym typeface="Arial"/>
            </a:endParaRPr>
          </a:p>
        </p:txBody>
      </p:sp>
      <p:sp>
        <p:nvSpPr>
          <p:cNvPr id="68" name="Google Shape;68;p2"/>
          <p:cNvSpPr/>
          <p:nvPr/>
        </p:nvSpPr>
        <p:spPr>
          <a:xfrm>
            <a:off x="612648" y="4736592"/>
            <a:ext cx="256032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3677A"/>
              </a:buClr>
              <a:buSzPts val="850"/>
              <a:buFont typeface="Arial"/>
              <a:buNone/>
            </a:pPr>
            <a:r>
              <a:rPr b="1" i="0" lang="en-US" sz="850" u="none" cap="none" strike="noStrike">
                <a:solidFill>
                  <a:srgbClr val="53677A"/>
                </a:solidFill>
                <a:latin typeface="Arial"/>
                <a:ea typeface="Arial"/>
                <a:cs typeface="Arial"/>
                <a:sym typeface="Arial"/>
              </a:rPr>
              <a:t>PATH TO THE CURRENT WORK</a:t>
            </a:r>
            <a:endParaRPr b="0" i="0" sz="850" u="none" cap="none" strike="noStrike">
              <a:solidFill>
                <a:schemeClr val="dk1"/>
              </a:solidFill>
              <a:latin typeface="Arial"/>
              <a:ea typeface="Arial"/>
              <a:cs typeface="Arial"/>
              <a:sym typeface="Arial"/>
            </a:endParaRPr>
          </a:p>
        </p:txBody>
      </p:sp>
      <p:cxnSp>
        <p:nvCxnSpPr>
          <p:cNvPr id="69" name="Google Shape;69;p2"/>
          <p:cNvCxnSpPr/>
          <p:nvPr/>
        </p:nvCxnSpPr>
        <p:spPr>
          <a:xfrm>
            <a:off x="2944368" y="5431536"/>
            <a:ext cx="384048" cy="0"/>
          </a:xfrm>
          <a:prstGeom prst="straightConnector1">
            <a:avLst/>
          </a:prstGeom>
          <a:noFill/>
          <a:ln cap="flat" cmpd="sng" w="19050">
            <a:solidFill>
              <a:srgbClr val="DCE5EE"/>
            </a:solidFill>
            <a:prstDash val="solid"/>
            <a:round/>
            <a:headEnd len="sm" w="sm" type="none"/>
            <a:tailEnd len="med" w="med" type="triangle"/>
          </a:ln>
        </p:spPr>
      </p:cxnSp>
      <p:sp>
        <p:nvSpPr>
          <p:cNvPr id="70" name="Google Shape;70;p2"/>
          <p:cNvSpPr/>
          <p:nvPr/>
        </p:nvSpPr>
        <p:spPr>
          <a:xfrm>
            <a:off x="658368" y="5184648"/>
            <a:ext cx="512064" cy="512064"/>
          </a:xfrm>
          <a:prstGeom prst="ellipse">
            <a:avLst/>
          </a:prstGeom>
          <a:solidFill>
            <a:srgbClr val="1667A8"/>
          </a:solidFill>
          <a:ln cap="flat" cmpd="sng" w="12700">
            <a:solidFill>
              <a:srgbClr val="166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58368" y="5266944"/>
            <a:ext cx="512064"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2024</a:t>
            </a:r>
            <a:endParaRPr b="0" i="0" sz="900" u="none" cap="none" strike="noStrike">
              <a:solidFill>
                <a:schemeClr val="dk1"/>
              </a:solidFill>
              <a:latin typeface="Arial"/>
              <a:ea typeface="Arial"/>
              <a:cs typeface="Arial"/>
              <a:sym typeface="Arial"/>
            </a:endParaRPr>
          </a:p>
        </p:txBody>
      </p:sp>
      <p:sp>
        <p:nvSpPr>
          <p:cNvPr id="72" name="Google Shape;72;p2"/>
          <p:cNvSpPr/>
          <p:nvPr/>
        </p:nvSpPr>
        <p:spPr>
          <a:xfrm>
            <a:off x="1316736" y="5138928"/>
            <a:ext cx="1645920" cy="62179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Personal robotics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projects</a:t>
            </a:r>
            <a:endParaRPr b="0" i="0" sz="1100" u="none" cap="none" strike="noStrike">
              <a:solidFill>
                <a:schemeClr val="dk1"/>
              </a:solidFill>
              <a:latin typeface="Arial"/>
              <a:ea typeface="Arial"/>
              <a:cs typeface="Arial"/>
              <a:sym typeface="Arial"/>
            </a:endParaRPr>
          </a:p>
        </p:txBody>
      </p:sp>
      <p:cxnSp>
        <p:nvCxnSpPr>
          <p:cNvPr id="73" name="Google Shape;73;p2"/>
          <p:cNvCxnSpPr/>
          <p:nvPr/>
        </p:nvCxnSpPr>
        <p:spPr>
          <a:xfrm>
            <a:off x="5733288" y="5431536"/>
            <a:ext cx="384048" cy="0"/>
          </a:xfrm>
          <a:prstGeom prst="straightConnector1">
            <a:avLst/>
          </a:prstGeom>
          <a:noFill/>
          <a:ln cap="flat" cmpd="sng" w="19050">
            <a:solidFill>
              <a:srgbClr val="DCE5EE"/>
            </a:solidFill>
            <a:prstDash val="solid"/>
            <a:round/>
            <a:headEnd len="sm" w="sm" type="none"/>
            <a:tailEnd len="med" w="med" type="triangle"/>
          </a:ln>
        </p:spPr>
      </p:cxnSp>
      <p:sp>
        <p:nvSpPr>
          <p:cNvPr id="74" name="Google Shape;74;p2"/>
          <p:cNvSpPr/>
          <p:nvPr/>
        </p:nvSpPr>
        <p:spPr>
          <a:xfrm>
            <a:off x="3447288" y="5184648"/>
            <a:ext cx="512064" cy="512064"/>
          </a:xfrm>
          <a:prstGeom prst="ellipse">
            <a:avLst/>
          </a:prstGeom>
          <a:solidFill>
            <a:srgbClr val="1667A8"/>
          </a:solidFill>
          <a:ln cap="flat" cmpd="sng" w="12700">
            <a:solidFill>
              <a:srgbClr val="166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3447288" y="5266944"/>
            <a:ext cx="512064"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2025</a:t>
            </a:r>
            <a:endParaRPr b="0" i="0" sz="900" u="none" cap="none" strike="noStrike">
              <a:solidFill>
                <a:schemeClr val="dk1"/>
              </a:solidFill>
              <a:latin typeface="Arial"/>
              <a:ea typeface="Arial"/>
              <a:cs typeface="Arial"/>
              <a:sym typeface="Arial"/>
            </a:endParaRPr>
          </a:p>
        </p:txBody>
      </p:sp>
      <p:sp>
        <p:nvSpPr>
          <p:cNvPr id="76" name="Google Shape;76;p2"/>
          <p:cNvSpPr/>
          <p:nvPr/>
        </p:nvSpPr>
        <p:spPr>
          <a:xfrm>
            <a:off x="4105656" y="5138928"/>
            <a:ext cx="1645920" cy="62179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Autonomous navigation</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prototype</a:t>
            </a:r>
            <a:endParaRPr b="0" i="0" sz="1100" u="none" cap="none" strike="noStrike">
              <a:solidFill>
                <a:schemeClr val="dk1"/>
              </a:solidFill>
              <a:latin typeface="Arial"/>
              <a:ea typeface="Arial"/>
              <a:cs typeface="Arial"/>
              <a:sym typeface="Arial"/>
            </a:endParaRPr>
          </a:p>
        </p:txBody>
      </p:sp>
      <p:cxnSp>
        <p:nvCxnSpPr>
          <p:cNvPr id="77" name="Google Shape;77;p2"/>
          <p:cNvCxnSpPr/>
          <p:nvPr/>
        </p:nvCxnSpPr>
        <p:spPr>
          <a:xfrm>
            <a:off x="8522208" y="5431536"/>
            <a:ext cx="384048" cy="0"/>
          </a:xfrm>
          <a:prstGeom prst="straightConnector1">
            <a:avLst/>
          </a:prstGeom>
          <a:noFill/>
          <a:ln cap="flat" cmpd="sng" w="19050">
            <a:solidFill>
              <a:srgbClr val="DCE5EE"/>
            </a:solidFill>
            <a:prstDash val="solid"/>
            <a:round/>
            <a:headEnd len="sm" w="sm" type="none"/>
            <a:tailEnd len="med" w="med" type="triangle"/>
          </a:ln>
        </p:spPr>
      </p:cxnSp>
      <p:sp>
        <p:nvSpPr>
          <p:cNvPr id="78" name="Google Shape;78;p2"/>
          <p:cNvSpPr/>
          <p:nvPr/>
        </p:nvSpPr>
        <p:spPr>
          <a:xfrm>
            <a:off x="6236208" y="5184648"/>
            <a:ext cx="512064" cy="512064"/>
          </a:xfrm>
          <a:prstGeom prst="ellipse">
            <a:avLst/>
          </a:prstGeom>
          <a:solidFill>
            <a:srgbClr val="1667A8"/>
          </a:solidFill>
          <a:ln cap="flat" cmpd="sng" w="12700">
            <a:solidFill>
              <a:srgbClr val="1667A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236208" y="5266944"/>
            <a:ext cx="512064"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2026</a:t>
            </a:r>
            <a:endParaRPr b="0" i="0" sz="900" u="none" cap="none" strike="noStrike">
              <a:solidFill>
                <a:schemeClr val="dk1"/>
              </a:solidFill>
              <a:latin typeface="Arial"/>
              <a:ea typeface="Arial"/>
              <a:cs typeface="Arial"/>
              <a:sym typeface="Arial"/>
            </a:endParaRPr>
          </a:p>
        </p:txBody>
      </p:sp>
      <p:sp>
        <p:nvSpPr>
          <p:cNvPr id="80" name="Google Shape;80;p2"/>
          <p:cNvSpPr/>
          <p:nvPr/>
        </p:nvSpPr>
        <p:spPr>
          <a:xfrm>
            <a:off x="6894576" y="5138928"/>
            <a:ext cx="1645920" cy="62179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Sim-to-real BSc thesis</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 tracked extension</a:t>
            </a:r>
            <a:endParaRPr b="0" i="0" sz="1100" u="none" cap="none" strike="noStrike">
              <a:solidFill>
                <a:schemeClr val="dk1"/>
              </a:solidFill>
              <a:latin typeface="Arial"/>
              <a:ea typeface="Arial"/>
              <a:cs typeface="Arial"/>
              <a:sym typeface="Arial"/>
            </a:endParaRPr>
          </a:p>
        </p:txBody>
      </p:sp>
      <p:sp>
        <p:nvSpPr>
          <p:cNvPr id="81" name="Google Shape;81;p2"/>
          <p:cNvSpPr/>
          <p:nvPr/>
        </p:nvSpPr>
        <p:spPr>
          <a:xfrm>
            <a:off x="9025128" y="5184648"/>
            <a:ext cx="512064" cy="512064"/>
          </a:xfrm>
          <a:prstGeom prst="ellipse">
            <a:avLst/>
          </a:prstGeom>
          <a:solidFill>
            <a:srgbClr val="D9772A"/>
          </a:solidFill>
          <a:ln cap="flat" cmpd="sng" w="12700">
            <a:solidFill>
              <a:srgbClr val="D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9025128" y="5266944"/>
            <a:ext cx="512064" cy="27432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750"/>
              <a:buFont typeface="Arial"/>
              <a:buNone/>
            </a:pPr>
            <a:r>
              <a:rPr b="1" i="0" lang="en-US" sz="750" u="none" cap="none" strike="noStrike">
                <a:solidFill>
                  <a:srgbClr val="FFFFFF"/>
                </a:solidFill>
                <a:latin typeface="Arial"/>
                <a:ea typeface="Arial"/>
                <a:cs typeface="Arial"/>
                <a:sym typeface="Arial"/>
              </a:rPr>
              <a:t>NEXT</a:t>
            </a:r>
            <a:endParaRPr b="0" i="0" sz="750" u="none" cap="none" strike="noStrike">
              <a:solidFill>
                <a:schemeClr val="dk1"/>
              </a:solidFill>
              <a:latin typeface="Arial"/>
              <a:ea typeface="Arial"/>
              <a:cs typeface="Arial"/>
              <a:sym typeface="Arial"/>
            </a:endParaRPr>
          </a:p>
        </p:txBody>
      </p:sp>
      <p:sp>
        <p:nvSpPr>
          <p:cNvPr id="83" name="Google Shape;83;p2"/>
          <p:cNvSpPr/>
          <p:nvPr/>
        </p:nvSpPr>
        <p:spPr>
          <a:xfrm>
            <a:off x="9683496" y="5138928"/>
            <a:ext cx="1645920" cy="621792"/>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Research</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collaboration</a:t>
            </a:r>
            <a:endParaRPr b="0" i="0" sz="1100" u="none" cap="none" strike="noStrike">
              <a:solidFill>
                <a:schemeClr val="dk1"/>
              </a:solidFill>
              <a:latin typeface="Arial"/>
              <a:ea typeface="Arial"/>
              <a:cs typeface="Arial"/>
              <a:sym typeface="Arial"/>
            </a:endParaRPr>
          </a:p>
        </p:txBody>
      </p:sp>
      <p:sp>
        <p:nvSpPr>
          <p:cNvPr id="84" name="Google Shape;84;p2"/>
          <p:cNvSpPr/>
          <p:nvPr/>
        </p:nvSpPr>
        <p:spPr>
          <a:xfrm>
            <a:off x="658368" y="6053328"/>
            <a:ext cx="10561320"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67A8"/>
              </a:buClr>
              <a:buSzPts val="1100"/>
              <a:buFont typeface="Arial"/>
              <a:buNone/>
            </a:pPr>
            <a:r>
              <a:rPr b="1" i="0" lang="en-US" sz="1100" u="none" cap="none" strike="noStrike">
                <a:solidFill>
                  <a:srgbClr val="1667A8"/>
                </a:solidFill>
                <a:latin typeface="Arial"/>
                <a:ea typeface="Arial"/>
                <a:cs typeface="Arial"/>
                <a:sym typeface="Arial"/>
              </a:rPr>
              <a:t>C/C++ · embedded systems · LiDAR · SLAM · state estimation · real deployment</a:t>
            </a:r>
            <a:endParaRPr b="0" i="0" sz="1100" u="none" cap="none" strike="noStrike">
              <a:solidFill>
                <a:schemeClr val="dk1"/>
              </a:solidFill>
              <a:latin typeface="Arial"/>
              <a:ea typeface="Arial"/>
              <a:cs typeface="Arial"/>
              <a:sym typeface="Arial"/>
            </a:endParaRPr>
          </a:p>
        </p:txBody>
      </p:sp>
      <p:sp>
        <p:nvSpPr>
          <p:cNvPr id="85" name="Google Shape;85;p2"/>
          <p:cNvSpPr txBox="1"/>
          <p:nvPr>
            <p:ph idx="4294967295" type="sldNum"/>
          </p:nvPr>
        </p:nvSpPr>
        <p:spPr>
          <a:xfrm>
            <a:off x="11247120" y="6537960"/>
            <a:ext cx="41148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p:nvPr/>
        </p:nvSpPr>
        <p:spPr>
          <a:xfrm>
            <a:off x="566928" y="393192"/>
            <a:ext cx="347472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850"/>
              <a:buFont typeface="Arial"/>
              <a:buNone/>
            </a:pPr>
            <a:r>
              <a:rPr b="1" i="0" lang="en-US" sz="850" u="none" cap="none" strike="noStrike">
                <a:solidFill>
                  <a:srgbClr val="1667A8"/>
                </a:solidFill>
                <a:latin typeface="Arial"/>
                <a:ea typeface="Arial"/>
                <a:cs typeface="Arial"/>
                <a:sym typeface="Arial"/>
              </a:rPr>
              <a:t>THESIS MOTIVATION</a:t>
            </a:r>
            <a:endParaRPr b="0" i="0" sz="850" u="none" cap="none" strike="noStrike">
              <a:solidFill>
                <a:schemeClr val="dk1"/>
              </a:solidFill>
              <a:latin typeface="Arial"/>
              <a:ea typeface="Arial"/>
              <a:cs typeface="Arial"/>
              <a:sym typeface="Arial"/>
            </a:endParaRPr>
          </a:p>
        </p:txBody>
      </p:sp>
      <p:sp>
        <p:nvSpPr>
          <p:cNvPr id="92" name="Google Shape;92;p3"/>
          <p:cNvSpPr/>
          <p:nvPr/>
        </p:nvSpPr>
        <p:spPr>
          <a:xfrm>
            <a:off x="566928" y="630936"/>
            <a:ext cx="1088136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2700"/>
              <a:buFont typeface="Arial"/>
              <a:buNone/>
            </a:pPr>
            <a:r>
              <a:rPr b="1" i="0" lang="en-US" sz="2700" u="none" cap="none" strike="noStrike">
                <a:solidFill>
                  <a:srgbClr val="0B2341"/>
                </a:solidFill>
                <a:latin typeface="Arial"/>
                <a:ea typeface="Arial"/>
                <a:cs typeface="Arial"/>
                <a:sym typeface="Arial"/>
              </a:rPr>
              <a:t>A planner that works in simulation is not yet a robotic system</a:t>
            </a:r>
            <a:endParaRPr b="0" i="0" sz="2700" u="none" cap="none" strike="noStrike">
              <a:solidFill>
                <a:schemeClr val="dk1"/>
              </a:solidFill>
              <a:latin typeface="Arial"/>
              <a:ea typeface="Arial"/>
              <a:cs typeface="Arial"/>
              <a:sym typeface="Arial"/>
            </a:endParaRPr>
          </a:p>
        </p:txBody>
      </p:sp>
      <p:sp>
        <p:nvSpPr>
          <p:cNvPr id="93" name="Google Shape;93;p3"/>
          <p:cNvSpPr/>
          <p:nvPr/>
        </p:nvSpPr>
        <p:spPr>
          <a:xfrm>
            <a:off x="585216" y="1069848"/>
            <a:ext cx="10607040" cy="31089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77A"/>
              </a:buClr>
              <a:buSzPts val="1150"/>
              <a:buFont typeface="Arial"/>
              <a:buNone/>
            </a:pPr>
            <a:r>
              <a:rPr b="0" i="0" lang="en-US" sz="1150" u="none" cap="none" strike="noStrike">
                <a:solidFill>
                  <a:srgbClr val="53677A"/>
                </a:solidFill>
                <a:latin typeface="Arial"/>
                <a:ea typeface="Arial"/>
                <a:cs typeface="Arial"/>
                <a:sym typeface="Arial"/>
              </a:rPr>
              <a:t>Transfer objective: preserve the navigation framework while adapting sensing, control and actuation to heterogeneous platforms.</a:t>
            </a:r>
            <a:endParaRPr b="0" i="0" sz="1150" u="none" cap="none" strike="noStrike">
              <a:solidFill>
                <a:schemeClr val="dk1"/>
              </a:solidFill>
              <a:latin typeface="Arial"/>
              <a:ea typeface="Arial"/>
              <a:cs typeface="Arial"/>
              <a:sym typeface="Arial"/>
            </a:endParaRPr>
          </a:p>
        </p:txBody>
      </p:sp>
      <p:pic>
        <p:nvPicPr>
          <p:cNvPr descr="Mixed navigation scenario in simulation" id="94" name="Google Shape;94;p3"/>
          <p:cNvPicPr preferRelativeResize="0"/>
          <p:nvPr/>
        </p:nvPicPr>
        <p:blipFill rotWithShape="1">
          <a:blip r:embed="rId3">
            <a:alphaModFix/>
          </a:blip>
          <a:srcRect b="0" l="0" r="0" t="0"/>
          <a:stretch/>
        </p:blipFill>
        <p:spPr>
          <a:xfrm>
            <a:off x="594360" y="1600200"/>
            <a:ext cx="3931920" cy="2852928"/>
          </a:xfrm>
          <a:prstGeom prst="rect">
            <a:avLst/>
          </a:prstGeom>
          <a:noFill/>
          <a:ln>
            <a:noFill/>
          </a:ln>
        </p:spPr>
      </p:pic>
      <p:sp>
        <p:nvSpPr>
          <p:cNvPr id="95" name="Google Shape;95;p3"/>
          <p:cNvSpPr/>
          <p:nvPr/>
        </p:nvSpPr>
        <p:spPr>
          <a:xfrm>
            <a:off x="594360" y="1600200"/>
            <a:ext cx="3931920" cy="2852928"/>
          </a:xfrm>
          <a:prstGeom prst="rect">
            <a:avLst/>
          </a:prstGeom>
          <a:solidFill>
            <a:srgbClr val="FFFFFF">
              <a:alpha val="0"/>
            </a:srgbClr>
          </a:solidFill>
          <a:ln cap="flat" cmpd="sng" w="12700">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ardware navigation observed through the same interface" id="96" name="Google Shape;96;p3"/>
          <p:cNvPicPr preferRelativeResize="0"/>
          <p:nvPr/>
        </p:nvPicPr>
        <p:blipFill rotWithShape="1">
          <a:blip r:embed="rId4">
            <a:alphaModFix/>
          </a:blip>
          <a:srcRect b="0" l="0" r="0" t="0"/>
          <a:stretch/>
        </p:blipFill>
        <p:spPr>
          <a:xfrm>
            <a:off x="7662672" y="1600200"/>
            <a:ext cx="3931920" cy="2852928"/>
          </a:xfrm>
          <a:prstGeom prst="rect">
            <a:avLst/>
          </a:prstGeom>
          <a:noFill/>
          <a:ln>
            <a:noFill/>
          </a:ln>
        </p:spPr>
      </p:pic>
      <p:sp>
        <p:nvSpPr>
          <p:cNvPr id="97" name="Google Shape;97;p3"/>
          <p:cNvSpPr/>
          <p:nvPr/>
        </p:nvSpPr>
        <p:spPr>
          <a:xfrm>
            <a:off x="7662672" y="1600200"/>
            <a:ext cx="3931920" cy="2852928"/>
          </a:xfrm>
          <a:prstGeom prst="rect">
            <a:avLst/>
          </a:prstGeom>
          <a:solidFill>
            <a:srgbClr val="FFFFFF">
              <a:alpha val="0"/>
            </a:srgbClr>
          </a:solidFill>
          <a:ln cap="flat" cmpd="sng" w="12700">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621792" y="4590288"/>
            <a:ext cx="182880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900"/>
              <a:buFont typeface="Arial"/>
              <a:buNone/>
            </a:pPr>
            <a:r>
              <a:rPr b="1" i="0" lang="en-US" sz="900" u="none" cap="none" strike="noStrike">
                <a:solidFill>
                  <a:srgbClr val="1667A8"/>
                </a:solidFill>
                <a:latin typeface="Arial"/>
                <a:ea typeface="Arial"/>
                <a:cs typeface="Arial"/>
                <a:sym typeface="Arial"/>
              </a:rPr>
              <a:t>SIMULATION</a:t>
            </a:r>
            <a:endParaRPr b="0" i="0" sz="900" u="none" cap="none" strike="noStrike">
              <a:solidFill>
                <a:schemeClr val="dk1"/>
              </a:solidFill>
              <a:latin typeface="Arial"/>
              <a:ea typeface="Arial"/>
              <a:cs typeface="Arial"/>
              <a:sym typeface="Arial"/>
            </a:endParaRPr>
          </a:p>
        </p:txBody>
      </p:sp>
      <p:sp>
        <p:nvSpPr>
          <p:cNvPr id="99" name="Google Shape;99;p3"/>
          <p:cNvSpPr/>
          <p:nvPr/>
        </p:nvSpPr>
        <p:spPr>
          <a:xfrm>
            <a:off x="9646920" y="4590288"/>
            <a:ext cx="1920240" cy="201168"/>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9772A"/>
              </a:buClr>
              <a:buSzPts val="900"/>
              <a:buFont typeface="Arial"/>
              <a:buNone/>
            </a:pPr>
            <a:r>
              <a:rPr b="1" i="0" lang="en-US" sz="900" u="none" cap="none" strike="noStrike">
                <a:solidFill>
                  <a:srgbClr val="D9772A"/>
                </a:solidFill>
                <a:latin typeface="Arial"/>
                <a:ea typeface="Arial"/>
                <a:cs typeface="Arial"/>
                <a:sym typeface="Arial"/>
              </a:rPr>
              <a:t>PHYSICAL SYSTEM</a:t>
            </a:r>
            <a:endParaRPr b="0" i="0" sz="900" u="none" cap="none" strike="noStrike">
              <a:solidFill>
                <a:schemeClr val="dk1"/>
              </a:solidFill>
              <a:latin typeface="Arial"/>
              <a:ea typeface="Arial"/>
              <a:cs typeface="Arial"/>
              <a:sym typeface="Arial"/>
            </a:endParaRPr>
          </a:p>
        </p:txBody>
      </p:sp>
      <p:cxnSp>
        <p:nvCxnSpPr>
          <p:cNvPr id="100" name="Google Shape;100;p3"/>
          <p:cNvCxnSpPr/>
          <p:nvPr/>
        </p:nvCxnSpPr>
        <p:spPr>
          <a:xfrm>
            <a:off x="4773168" y="2990088"/>
            <a:ext cx="2587752" cy="0"/>
          </a:xfrm>
          <a:prstGeom prst="straightConnector1">
            <a:avLst/>
          </a:prstGeom>
          <a:noFill/>
          <a:ln cap="flat" cmpd="sng" w="40625">
            <a:solidFill>
              <a:srgbClr val="0B2341"/>
            </a:solidFill>
            <a:prstDash val="solid"/>
            <a:round/>
            <a:headEnd len="sm" w="sm" type="none"/>
            <a:tailEnd len="med" w="med" type="triangle"/>
          </a:ln>
        </p:spPr>
      </p:cxnSp>
      <p:sp>
        <p:nvSpPr>
          <p:cNvPr id="101" name="Google Shape;101;p3"/>
          <p:cNvSpPr/>
          <p:nvPr/>
        </p:nvSpPr>
        <p:spPr>
          <a:xfrm>
            <a:off x="4791456" y="2505456"/>
            <a:ext cx="2532888" cy="256032"/>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341"/>
              </a:buClr>
              <a:buSzPts val="1100"/>
              <a:buFont typeface="Arial"/>
              <a:buNone/>
            </a:pPr>
            <a:r>
              <a:rPr b="1" i="0" lang="en-US" sz="1100" u="none" cap="none" strike="noStrike">
                <a:solidFill>
                  <a:srgbClr val="0B2341"/>
                </a:solidFill>
                <a:latin typeface="Arial"/>
                <a:ea typeface="Arial"/>
                <a:cs typeface="Arial"/>
                <a:sym typeface="Arial"/>
              </a:rPr>
              <a:t>MEASURE THE GAP</a:t>
            </a:r>
            <a:endParaRPr b="0" i="0" sz="1100" u="none" cap="none" strike="noStrike">
              <a:solidFill>
                <a:schemeClr val="dk1"/>
              </a:solidFill>
              <a:latin typeface="Arial"/>
              <a:ea typeface="Arial"/>
              <a:cs typeface="Arial"/>
              <a:sym typeface="Arial"/>
            </a:endParaRPr>
          </a:p>
        </p:txBody>
      </p:sp>
      <p:sp>
        <p:nvSpPr>
          <p:cNvPr id="102" name="Google Shape;102;p3"/>
          <p:cNvSpPr/>
          <p:nvPr/>
        </p:nvSpPr>
        <p:spPr>
          <a:xfrm>
            <a:off x="713232" y="5102352"/>
            <a:ext cx="1444752" cy="310896"/>
          </a:xfrm>
          <a:prstGeom prst="roundRect">
            <a:avLst>
              <a:gd fmla="val 14706" name="adj"/>
            </a:avLst>
          </a:prstGeom>
          <a:solidFill>
            <a:srgbClr val="DDEEF7"/>
          </a:solidFill>
          <a:ln cap="flat" cmpd="sng" w="12700">
            <a:solidFill>
              <a:srgbClr val="DDEEF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804672" y="5129784"/>
            <a:ext cx="1261872"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67A8"/>
              </a:buClr>
              <a:buSzPts val="900"/>
              <a:buFont typeface="Arial"/>
              <a:buNone/>
            </a:pPr>
            <a:r>
              <a:rPr b="1" i="0" lang="en-US" sz="900" u="none" cap="none" strike="noStrike">
                <a:solidFill>
                  <a:srgbClr val="1667A8"/>
                </a:solidFill>
                <a:latin typeface="Arial"/>
                <a:ea typeface="Arial"/>
                <a:cs typeface="Arial"/>
                <a:sym typeface="Arial"/>
              </a:rPr>
              <a:t>Sensor noise</a:t>
            </a:r>
            <a:endParaRPr b="0" i="0" sz="900" u="none" cap="none" strike="noStrike">
              <a:solidFill>
                <a:schemeClr val="dk1"/>
              </a:solidFill>
              <a:latin typeface="Arial"/>
              <a:ea typeface="Arial"/>
              <a:cs typeface="Arial"/>
              <a:sym typeface="Arial"/>
            </a:endParaRPr>
          </a:p>
        </p:txBody>
      </p:sp>
      <p:sp>
        <p:nvSpPr>
          <p:cNvPr id="104" name="Google Shape;104;p3"/>
          <p:cNvSpPr/>
          <p:nvPr/>
        </p:nvSpPr>
        <p:spPr>
          <a:xfrm>
            <a:off x="2468880" y="5102352"/>
            <a:ext cx="1444752" cy="310896"/>
          </a:xfrm>
          <a:prstGeom prst="roundRect">
            <a:avLst>
              <a:gd fmla="val 14706" name="adj"/>
            </a:avLst>
          </a:prstGeom>
          <a:solidFill>
            <a:srgbClr val="DDEEF7"/>
          </a:solidFill>
          <a:ln cap="flat" cmpd="sng" w="12700">
            <a:solidFill>
              <a:srgbClr val="DDEEF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2560320" y="5129784"/>
            <a:ext cx="1261872"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67A8"/>
              </a:buClr>
              <a:buSzPts val="900"/>
              <a:buFont typeface="Arial"/>
              <a:buNone/>
            </a:pPr>
            <a:r>
              <a:rPr b="1" i="0" lang="en-US" sz="900" u="none" cap="none" strike="noStrike">
                <a:solidFill>
                  <a:srgbClr val="1667A8"/>
                </a:solidFill>
                <a:latin typeface="Arial"/>
                <a:ea typeface="Arial"/>
                <a:cs typeface="Arial"/>
                <a:sym typeface="Arial"/>
              </a:rPr>
              <a:t>Wheel slip</a:t>
            </a:r>
            <a:endParaRPr b="0" i="0" sz="900" u="none" cap="none" strike="noStrike">
              <a:solidFill>
                <a:schemeClr val="dk1"/>
              </a:solidFill>
              <a:latin typeface="Arial"/>
              <a:ea typeface="Arial"/>
              <a:cs typeface="Arial"/>
              <a:sym typeface="Arial"/>
            </a:endParaRPr>
          </a:p>
        </p:txBody>
      </p:sp>
      <p:sp>
        <p:nvSpPr>
          <p:cNvPr id="106" name="Google Shape;106;p3"/>
          <p:cNvSpPr/>
          <p:nvPr/>
        </p:nvSpPr>
        <p:spPr>
          <a:xfrm>
            <a:off x="3886200" y="5102352"/>
            <a:ext cx="1874520" cy="310896"/>
          </a:xfrm>
          <a:prstGeom prst="roundRect">
            <a:avLst>
              <a:gd fmla="val 14706" name="adj"/>
            </a:avLst>
          </a:prstGeom>
          <a:solidFill>
            <a:srgbClr val="DDEEF7"/>
          </a:solidFill>
          <a:ln cap="flat" cmpd="sng" w="12700">
            <a:solidFill>
              <a:srgbClr val="DDEEF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3977640" y="5129784"/>
            <a:ext cx="1691640"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1667A8"/>
              </a:buClr>
              <a:buSzPts val="900"/>
              <a:buFont typeface="Arial"/>
              <a:buNone/>
            </a:pPr>
            <a:r>
              <a:rPr b="1" i="0" lang="en-US" sz="900" u="none" cap="none" strike="noStrike">
                <a:solidFill>
                  <a:srgbClr val="1667A8"/>
                </a:solidFill>
                <a:latin typeface="Arial"/>
                <a:ea typeface="Arial"/>
                <a:cs typeface="Arial"/>
                <a:sym typeface="Arial"/>
              </a:rPr>
              <a:t>Actuator saturation</a:t>
            </a:r>
            <a:endParaRPr b="0" i="0" sz="900" u="none" cap="none" strike="noStrike">
              <a:solidFill>
                <a:schemeClr val="dk1"/>
              </a:solidFill>
              <a:latin typeface="Arial"/>
              <a:ea typeface="Arial"/>
              <a:cs typeface="Arial"/>
              <a:sym typeface="Arial"/>
            </a:endParaRPr>
          </a:p>
        </p:txBody>
      </p:sp>
      <p:sp>
        <p:nvSpPr>
          <p:cNvPr id="108" name="Google Shape;108;p3"/>
          <p:cNvSpPr/>
          <p:nvPr/>
        </p:nvSpPr>
        <p:spPr>
          <a:xfrm>
            <a:off x="5989320" y="5102352"/>
            <a:ext cx="1874520" cy="310896"/>
          </a:xfrm>
          <a:prstGeom prst="roundRect">
            <a:avLst>
              <a:gd fmla="val 14706" name="adj"/>
            </a:avLst>
          </a:prstGeom>
          <a:solidFill>
            <a:srgbClr val="F9E9DA"/>
          </a:solidFill>
          <a:ln cap="flat" cmpd="sng" w="12700">
            <a:solidFill>
              <a:srgbClr val="F9E9D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080760" y="5129784"/>
            <a:ext cx="1691640"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9772A"/>
              </a:buClr>
              <a:buSzPts val="900"/>
              <a:buFont typeface="Arial"/>
              <a:buNone/>
            </a:pPr>
            <a:r>
              <a:rPr b="1" i="0" lang="en-US" sz="900" u="none" cap="none" strike="noStrike">
                <a:solidFill>
                  <a:srgbClr val="D9772A"/>
                </a:solidFill>
                <a:latin typeface="Arial"/>
                <a:ea typeface="Arial"/>
                <a:cs typeface="Arial"/>
                <a:sym typeface="Arial"/>
              </a:rPr>
              <a:t>Communication delay</a:t>
            </a:r>
            <a:endParaRPr b="0" i="0" sz="900" u="none" cap="none" strike="noStrike">
              <a:solidFill>
                <a:schemeClr val="dk1"/>
              </a:solidFill>
              <a:latin typeface="Arial"/>
              <a:ea typeface="Arial"/>
              <a:cs typeface="Arial"/>
              <a:sym typeface="Arial"/>
            </a:endParaRPr>
          </a:p>
        </p:txBody>
      </p:sp>
      <p:sp>
        <p:nvSpPr>
          <p:cNvPr id="110" name="Google Shape;110;p3"/>
          <p:cNvSpPr/>
          <p:nvPr/>
        </p:nvSpPr>
        <p:spPr>
          <a:xfrm>
            <a:off x="8156448" y="5102352"/>
            <a:ext cx="1444752" cy="310896"/>
          </a:xfrm>
          <a:prstGeom prst="roundRect">
            <a:avLst>
              <a:gd fmla="val 14706" name="adj"/>
            </a:avLst>
          </a:prstGeom>
          <a:solidFill>
            <a:srgbClr val="F9E9DA"/>
          </a:solidFill>
          <a:ln cap="flat" cmpd="sng" w="12700">
            <a:solidFill>
              <a:srgbClr val="F9E9D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8247888" y="5129784"/>
            <a:ext cx="1261872"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9772A"/>
              </a:buClr>
              <a:buSzPts val="900"/>
              <a:buFont typeface="Arial"/>
              <a:buNone/>
            </a:pPr>
            <a:r>
              <a:rPr b="1" i="0" lang="en-US" sz="900" u="none" cap="none" strike="noStrike">
                <a:solidFill>
                  <a:srgbClr val="D9772A"/>
                </a:solidFill>
                <a:latin typeface="Arial"/>
                <a:ea typeface="Arial"/>
                <a:cs typeface="Arial"/>
                <a:sym typeface="Arial"/>
              </a:rPr>
              <a:t>Estimation error</a:t>
            </a:r>
            <a:endParaRPr b="0" i="0" sz="900" u="none" cap="none" strike="noStrike">
              <a:solidFill>
                <a:schemeClr val="dk1"/>
              </a:solidFill>
              <a:latin typeface="Arial"/>
              <a:ea typeface="Arial"/>
              <a:cs typeface="Arial"/>
              <a:sym typeface="Arial"/>
            </a:endParaRPr>
          </a:p>
        </p:txBody>
      </p:sp>
      <p:sp>
        <p:nvSpPr>
          <p:cNvPr id="112" name="Google Shape;112;p3"/>
          <p:cNvSpPr/>
          <p:nvPr/>
        </p:nvSpPr>
        <p:spPr>
          <a:xfrm>
            <a:off x="9802368" y="5102352"/>
            <a:ext cx="1444752" cy="310896"/>
          </a:xfrm>
          <a:prstGeom prst="roundRect">
            <a:avLst>
              <a:gd fmla="val 14706" name="adj"/>
            </a:avLst>
          </a:prstGeom>
          <a:solidFill>
            <a:srgbClr val="F9E9DA"/>
          </a:solidFill>
          <a:ln cap="flat" cmpd="sng" w="12700">
            <a:solidFill>
              <a:srgbClr val="F9E9D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9893808" y="5129784"/>
            <a:ext cx="1261872" cy="23774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D9772A"/>
              </a:buClr>
              <a:buSzPts val="900"/>
              <a:buFont typeface="Arial"/>
              <a:buNone/>
            </a:pPr>
            <a:r>
              <a:rPr b="1" i="0" lang="en-US" sz="900" u="none" cap="none" strike="noStrike">
                <a:solidFill>
                  <a:srgbClr val="D9772A"/>
                </a:solidFill>
                <a:latin typeface="Arial"/>
                <a:ea typeface="Arial"/>
                <a:cs typeface="Arial"/>
                <a:sym typeface="Arial"/>
              </a:rPr>
              <a:t>Vehicle kinematics</a:t>
            </a:r>
            <a:endParaRPr b="0" i="0" sz="900" u="none" cap="none" strike="noStrike">
              <a:solidFill>
                <a:schemeClr val="dk1"/>
              </a:solidFill>
              <a:latin typeface="Arial"/>
              <a:ea typeface="Arial"/>
              <a:cs typeface="Arial"/>
              <a:sym typeface="Arial"/>
            </a:endParaRPr>
          </a:p>
        </p:txBody>
      </p:sp>
      <p:sp>
        <p:nvSpPr>
          <p:cNvPr id="114" name="Google Shape;114;p3"/>
          <p:cNvSpPr/>
          <p:nvPr/>
        </p:nvSpPr>
        <p:spPr>
          <a:xfrm>
            <a:off x="640080" y="5879592"/>
            <a:ext cx="10881360" cy="4114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341"/>
              </a:buClr>
              <a:buSzPts val="1700"/>
              <a:buFont typeface="Arial"/>
              <a:buNone/>
            </a:pPr>
            <a:r>
              <a:rPr b="1" i="0" lang="en-US" sz="1700" u="none" cap="none" strike="noStrike">
                <a:solidFill>
                  <a:srgbClr val="0B2341"/>
                </a:solidFill>
                <a:latin typeface="Arial"/>
                <a:ea typeface="Arial"/>
                <a:cs typeface="Arial"/>
                <a:sym typeface="Arial"/>
              </a:rPr>
              <a:t>Goal: build an experimental infrastructure that makes the sim-to-real gap observable and quantitatively comparable.</a:t>
            </a:r>
            <a:endParaRPr b="0" i="0" sz="1700" u="none" cap="none" strike="noStrike">
              <a:solidFill>
                <a:schemeClr val="dk1"/>
              </a:solidFill>
              <a:latin typeface="Arial"/>
              <a:ea typeface="Arial"/>
              <a:cs typeface="Arial"/>
              <a:sym typeface="Arial"/>
            </a:endParaRPr>
          </a:p>
        </p:txBody>
      </p:sp>
      <p:sp>
        <p:nvSpPr>
          <p:cNvPr id="115" name="Google Shape;115;p3"/>
          <p:cNvSpPr txBox="1"/>
          <p:nvPr>
            <p:ph idx="4294967295" type="sldNum"/>
          </p:nvPr>
        </p:nvSpPr>
        <p:spPr>
          <a:xfrm>
            <a:off x="11247120" y="6537960"/>
            <a:ext cx="41148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4"/>
          <p:cNvSpPr/>
          <p:nvPr/>
        </p:nvSpPr>
        <p:spPr>
          <a:xfrm>
            <a:off x="571500" y="190500"/>
            <a:ext cx="4206300" cy="14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50657A"/>
                </a:solidFill>
                <a:latin typeface="Arial"/>
                <a:ea typeface="Arial"/>
                <a:cs typeface="Arial"/>
                <a:sym typeface="Arial"/>
              </a:rPr>
              <a:t>ISMAELE CARBONARI · FBK 3DOM</a:t>
            </a:r>
            <a:endParaRPr b="1" sz="800">
              <a:solidFill>
                <a:srgbClr val="50657A"/>
              </a:solidFill>
              <a:latin typeface="Arial"/>
              <a:ea typeface="Arial"/>
              <a:cs typeface="Arial"/>
              <a:sym typeface="Arial"/>
            </a:endParaRPr>
          </a:p>
        </p:txBody>
      </p:sp>
      <p:sp>
        <p:nvSpPr>
          <p:cNvPr id="122" name="Google Shape;122;p4"/>
          <p:cNvSpPr/>
          <p:nvPr/>
        </p:nvSpPr>
        <p:spPr>
          <a:xfrm>
            <a:off x="571500" y="523875"/>
            <a:ext cx="3474600" cy="2013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900">
                <a:solidFill>
                  <a:srgbClr val="1667A8"/>
                </a:solidFill>
                <a:latin typeface="Arial"/>
                <a:ea typeface="Arial"/>
                <a:cs typeface="Arial"/>
                <a:sym typeface="Arial"/>
              </a:rPr>
              <a:t>SYSTEM ARCHITECTURE</a:t>
            </a:r>
            <a:endParaRPr b="1" sz="900">
              <a:solidFill>
                <a:srgbClr val="1667A8"/>
              </a:solidFill>
              <a:latin typeface="Arial"/>
              <a:ea typeface="Arial"/>
              <a:cs typeface="Arial"/>
              <a:sym typeface="Arial"/>
            </a:endParaRPr>
          </a:p>
        </p:txBody>
      </p:sp>
      <p:sp>
        <p:nvSpPr>
          <p:cNvPr id="123" name="Google Shape;123;p4"/>
          <p:cNvSpPr/>
          <p:nvPr/>
        </p:nvSpPr>
        <p:spPr>
          <a:xfrm>
            <a:off x="571500" y="762000"/>
            <a:ext cx="10881300" cy="475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2800">
                <a:solidFill>
                  <a:srgbClr val="0B2341"/>
                </a:solidFill>
                <a:latin typeface="Arial"/>
                <a:ea typeface="Arial"/>
                <a:cs typeface="Arial"/>
                <a:sym typeface="Arial"/>
              </a:rPr>
              <a:t>One decision layer, multiple platform-dependent interfaces</a:t>
            </a:r>
            <a:endParaRPr b="1" sz="2800">
              <a:solidFill>
                <a:srgbClr val="0B2341"/>
              </a:solidFill>
              <a:latin typeface="Arial"/>
              <a:ea typeface="Arial"/>
              <a:cs typeface="Arial"/>
              <a:sym typeface="Arial"/>
            </a:endParaRPr>
          </a:p>
        </p:txBody>
      </p:sp>
      <p:sp>
        <p:nvSpPr>
          <p:cNvPr id="124" name="Google Shape;124;p4"/>
          <p:cNvSpPr/>
          <p:nvPr/>
        </p:nvSpPr>
        <p:spPr>
          <a:xfrm>
            <a:off x="571500" y="1238250"/>
            <a:ext cx="10607100" cy="3108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300">
                <a:solidFill>
                  <a:srgbClr val="53677A"/>
                </a:solidFill>
                <a:latin typeface="Arial"/>
                <a:ea typeface="Arial"/>
                <a:cs typeface="Arial"/>
                <a:sym typeface="Arial"/>
              </a:rPr>
              <a:t>The planner operates on geometric abstractions; sensing and actuation adapt to the robot.</a:t>
            </a:r>
            <a:endParaRPr b="0" sz="1300">
              <a:solidFill>
                <a:srgbClr val="53677A"/>
              </a:solidFill>
              <a:latin typeface="Arial"/>
              <a:ea typeface="Arial"/>
              <a:cs typeface="Arial"/>
              <a:sym typeface="Arial"/>
            </a:endParaRPr>
          </a:p>
        </p:txBody>
      </p:sp>
      <p:grpSp>
        <p:nvGrpSpPr>
          <p:cNvPr id="125" name="Google Shape;125;p4"/>
          <p:cNvGrpSpPr/>
          <p:nvPr/>
        </p:nvGrpSpPr>
        <p:grpSpPr>
          <a:xfrm>
            <a:off x="476250" y="1714500"/>
            <a:ext cx="11239500" cy="3048000"/>
            <a:chOff x="476250" y="1714500"/>
            <a:chExt cx="11239500" cy="3048000"/>
          </a:xfrm>
        </p:grpSpPr>
      </p:grpSp>
      <p:grpSp>
        <p:nvGrpSpPr>
          <p:cNvPr id="158" name="Google Shape;158;p4"/>
          <p:cNvGrpSpPr/>
          <p:nvPr/>
        </p:nvGrpSpPr>
        <p:grpSpPr>
          <a:xfrm>
            <a:off x="1990725" y="2395538"/>
            <a:ext cx="8182050" cy="1438200"/>
            <a:chOff x="1990725" y="2395538"/>
            <a:chExt cx="8182050" cy="1438200"/>
          </a:xfrm>
        </p:grpSpPr>
      </p:grpSp>
      <p:sp>
        <p:nvSpPr>
          <p:cNvPr id="165" name="Google Shape;165;p4"/>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
        <p:nvSpPr>
          <p:cNvPr id="166" name="Google Shape;166;p4"/>
          <p:cNvSpPr/>
          <p:nvPr/>
        </p:nvSpPr>
        <p:spPr>
          <a:xfrm>
            <a:off x="571500" y="5524500"/>
            <a:ext cx="11049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2000">
                <a:solidFill>
                  <a:srgbClr val="0B2341"/>
                </a:solidFill>
                <a:latin typeface="Arial"/>
                <a:ea typeface="Arial"/>
                <a:cs typeface="Arial"/>
                <a:sym typeface="Arial"/>
              </a:rPr>
              <a:t>The planner remains unchanged while sensing, tracking and actuation adapt to the platform.</a:t>
            </a:r>
            <a:endParaRPr b="1" sz="2000">
              <a:solidFill>
                <a:srgbClr val="0B2341"/>
              </a:solidFill>
              <a:latin typeface="Arial"/>
              <a:ea typeface="Arial"/>
              <a:cs typeface="Arial"/>
              <a:sym typeface="Arial"/>
            </a:endParaRPr>
          </a:p>
        </p:txBody>
      </p:sp>
      <p:pic>
        <p:nvPicPr>
          <p:cNvPr id="990" name="Architecture Pipeline"/>
          <p:cNvPicPr>
            <a:picLocks noChangeAspect="1"/>
          </p:cNvPicPr>
          <p:nvPr/>
        </p:nvPicPr>
        <p:blipFill>
          <a:blip r:embed="rId4">
            <a:alphaModFix/>
          </a:blip>
          <a:stretch>
            <a:fillRect/>
          </a:stretch>
        </p:blipFill>
        <p:spPr>
          <a:xfrm>
            <a:off x="571500" y="1660000"/>
            <a:ext cx="11049000" cy="350000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5"/>
          <p:cNvSpPr/>
          <p:nvPr/>
        </p:nvSpPr>
        <p:spPr>
          <a:xfrm>
            <a:off x="566928" y="393192"/>
            <a:ext cx="3474600" cy="201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850"/>
              <a:buFont typeface="Arial"/>
              <a:buNone/>
            </a:pPr>
            <a:r>
              <a:rPr b="1" i="0" lang="en-US" sz="850" u="none" cap="none" strike="noStrike">
                <a:solidFill>
                  <a:srgbClr val="1667A8"/>
                </a:solidFill>
                <a:latin typeface="Arial"/>
                <a:ea typeface="Arial"/>
                <a:cs typeface="Arial"/>
                <a:sym typeface="Arial"/>
              </a:rPr>
              <a:t>THESIS CONTRIBUTIONS</a:t>
            </a:r>
            <a:endParaRPr b="0" i="0" sz="850" u="none" cap="none" strike="noStrike">
              <a:solidFill>
                <a:schemeClr val="dk1"/>
              </a:solidFill>
              <a:latin typeface="Arial"/>
              <a:ea typeface="Arial"/>
              <a:cs typeface="Arial"/>
              <a:sym typeface="Arial"/>
            </a:endParaRPr>
          </a:p>
        </p:txBody>
      </p:sp>
      <p:sp>
        <p:nvSpPr>
          <p:cNvPr id="173" name="Google Shape;173;p5"/>
          <p:cNvSpPr/>
          <p:nvPr/>
        </p:nvSpPr>
        <p:spPr>
          <a:xfrm>
            <a:off x="566928" y="630936"/>
            <a:ext cx="10881300" cy="4755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2700"/>
              <a:buFont typeface="Arial"/>
              <a:buNone/>
            </a:pPr>
            <a:r>
              <a:rPr b="1" i="0" lang="en-US" sz="2700" u="none" cap="none" strike="noStrike">
                <a:solidFill>
                  <a:srgbClr val="0B2341"/>
                </a:solidFill>
                <a:latin typeface="Arial"/>
                <a:ea typeface="Arial"/>
                <a:cs typeface="Arial"/>
                <a:sym typeface="Arial"/>
              </a:rPr>
              <a:t>What I developed</a:t>
            </a:r>
            <a:endParaRPr b="0" i="0" sz="2700" u="none" cap="none" strike="noStrike">
              <a:solidFill>
                <a:schemeClr val="dk1"/>
              </a:solidFill>
              <a:latin typeface="Arial"/>
              <a:ea typeface="Arial"/>
              <a:cs typeface="Arial"/>
              <a:sym typeface="Arial"/>
            </a:endParaRPr>
          </a:p>
        </p:txBody>
      </p:sp>
      <p:sp>
        <p:nvSpPr>
          <p:cNvPr id="174" name="Google Shape;174;p5"/>
          <p:cNvSpPr/>
          <p:nvPr/>
        </p:nvSpPr>
        <p:spPr>
          <a:xfrm>
            <a:off x="585216" y="1069848"/>
            <a:ext cx="10607100" cy="310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77A"/>
              </a:buClr>
              <a:buSzPts val="1150"/>
              <a:buFont typeface="Arial"/>
              <a:buNone/>
            </a:pPr>
            <a:r>
              <a:rPr b="0" i="0" lang="en-US" sz="1150" u="none" cap="none" strike="noStrike">
                <a:solidFill>
                  <a:srgbClr val="53677A"/>
                </a:solidFill>
                <a:latin typeface="Arial"/>
                <a:ea typeface="Arial"/>
                <a:cs typeface="Arial"/>
                <a:sym typeface="Arial"/>
              </a:rPr>
              <a:t>A complete experimental stack around an existing general planner</a:t>
            </a:r>
            <a:endParaRPr b="0" i="0" sz="1150" u="none" cap="none" strike="noStrike">
              <a:solidFill>
                <a:schemeClr val="dk1"/>
              </a:solidFill>
              <a:latin typeface="Arial"/>
              <a:ea typeface="Arial"/>
              <a:cs typeface="Arial"/>
              <a:sym typeface="Arial"/>
            </a:endParaRPr>
          </a:p>
        </p:txBody>
      </p:sp>
      <p:grpSp>
        <p:nvGrpSpPr>
          <p:cNvPr id="175" name="Google Shape;175;p5"/>
          <p:cNvGrpSpPr/>
          <p:nvPr/>
        </p:nvGrpSpPr>
        <p:grpSpPr>
          <a:xfrm>
            <a:off x="571500" y="1524000"/>
            <a:ext cx="3524400" cy="4095900"/>
            <a:chOff x="571500" y="1524000"/>
            <a:chExt cx="3524400" cy="4095900"/>
          </a:xfrm>
        </p:grpSpPr>
        <p:sp>
          <p:nvSpPr>
            <p:cNvPr id="176" name="Google Shape;176;p5"/>
            <p:cNvSpPr/>
            <p:nvPr/>
          </p:nvSpPr>
          <p:spPr>
            <a:xfrm>
              <a:off x="571500" y="1524000"/>
              <a:ext cx="3524400" cy="4095900"/>
            </a:xfrm>
            <a:prstGeom prst="roundRect">
              <a:avLst>
                <a:gd fmla="val 3243" name="adj"/>
              </a:avLst>
            </a:prstGeom>
            <a:solidFill>
              <a:srgbClr val="F3F7FA"/>
            </a:solidFill>
            <a:ln cap="flat" cmpd="sng" w="9525">
              <a:solidFill>
                <a:srgbClr val="DCE5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7" name="Google Shape;177;p5"/>
            <p:cNvPicPr preferRelativeResize="0"/>
            <p:nvPr/>
          </p:nvPicPr>
          <p:blipFill rotWithShape="1">
            <a:blip r:embed="rId4">
              <a:alphaModFix/>
            </a:blip>
            <a:srcRect b="0" l="0" r="0" t="0"/>
            <a:stretch/>
          </p:blipFill>
          <p:spPr>
            <a:xfrm>
              <a:off x="714375" y="1666875"/>
              <a:ext cx="3238500" cy="1905000"/>
            </a:xfrm>
            <a:prstGeom prst="roundRect">
              <a:avLst>
                <a:gd fmla="val 4000" name="adj"/>
              </a:avLst>
            </a:prstGeom>
            <a:noFill/>
            <a:ln>
              <a:noFill/>
            </a:ln>
          </p:spPr>
        </p:pic>
        <p:sp>
          <p:nvSpPr>
            <p:cNvPr id="178" name="Google Shape;178;p5"/>
            <p:cNvSpPr txBox="1"/>
            <p:nvPr/>
          </p:nvSpPr>
          <p:spPr>
            <a:xfrm>
              <a:off x="714375" y="3667125"/>
              <a:ext cx="323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B2341"/>
                  </a:solidFill>
                  <a:latin typeface="Arial"/>
                  <a:ea typeface="Arial"/>
                  <a:cs typeface="Arial"/>
                  <a:sym typeface="Arial"/>
                </a:rPr>
                <a:t>Simulation</a:t>
              </a:r>
              <a:endParaRPr b="1" sz="1800">
                <a:solidFill>
                  <a:srgbClr val="0B2341"/>
                </a:solidFill>
                <a:latin typeface="Arial"/>
                <a:ea typeface="Arial"/>
                <a:cs typeface="Arial"/>
                <a:sym typeface="Arial"/>
              </a:endParaRPr>
            </a:p>
          </p:txBody>
        </p:sp>
        <p:cxnSp>
          <p:nvCxnSpPr>
            <p:cNvPr id="179" name="Google Shape;179;p5"/>
            <p:cNvCxnSpPr/>
            <p:nvPr/>
          </p:nvCxnSpPr>
          <p:spPr>
            <a:xfrm>
              <a:off x="714375" y="4143375"/>
              <a:ext cx="714300" cy="0"/>
            </a:xfrm>
            <a:prstGeom prst="straightConnector1">
              <a:avLst/>
            </a:prstGeom>
            <a:solidFill>
              <a:srgbClr val="FFFFFF"/>
            </a:solidFill>
            <a:ln cap="flat" cmpd="sng" w="38100">
              <a:solidFill>
                <a:srgbClr val="2C9AB7"/>
              </a:solidFill>
              <a:prstDash val="solid"/>
              <a:round/>
              <a:headEnd len="sm" w="sm" type="none"/>
              <a:tailEnd len="sm" w="sm" type="none"/>
            </a:ln>
          </p:spPr>
        </p:cxnSp>
        <p:sp>
          <p:nvSpPr>
            <p:cNvPr id="180" name="Google Shape;180;p5"/>
            <p:cNvSpPr txBox="1"/>
            <p:nvPr/>
          </p:nvSpPr>
          <p:spPr>
            <a:xfrm>
              <a:off x="714375" y="4333875"/>
              <a:ext cx="3238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200">
                  <a:solidFill>
                    <a:srgbClr val="2C9AB7"/>
                  </a:solidFill>
                  <a:latin typeface="Arial"/>
                  <a:ea typeface="Arial"/>
                  <a:cs typeface="Arial"/>
                  <a:sym typeface="Arial"/>
                </a:rPr>
                <a:t>●</a:t>
              </a:r>
              <a:r>
                <a:rPr lang="en-US" sz="1200">
                  <a:solidFill>
                    <a:srgbClr val="122235"/>
                  </a:solidFill>
                  <a:latin typeface="Arial"/>
                  <a:ea typeface="Arial"/>
                  <a:cs typeface="Arial"/>
                  <a:sym typeface="Arial"/>
                </a:rPr>
                <a:t>Custom C++ simulator</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2C9AB7"/>
                  </a:solidFill>
                  <a:latin typeface="Arial"/>
                  <a:ea typeface="Arial"/>
                  <a:cs typeface="Arial"/>
                  <a:sym typeface="Arial"/>
                </a:rPr>
                <a:t>●</a:t>
              </a:r>
              <a:r>
                <a:rPr lang="en-US" sz="1200">
                  <a:solidFill>
                    <a:srgbClr val="122235"/>
                  </a:solidFill>
                  <a:latin typeface="Arial"/>
                  <a:ea typeface="Arial"/>
                  <a:cs typeface="Arial"/>
                  <a:sym typeface="Arial"/>
                </a:rPr>
                <a:t>Synthetic sensors</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2C9AB7"/>
                  </a:solidFill>
                  <a:latin typeface="Arial"/>
                  <a:ea typeface="Arial"/>
                  <a:cs typeface="Arial"/>
                  <a:sym typeface="Arial"/>
                </a:rPr>
                <a:t>●</a:t>
              </a:r>
              <a:r>
                <a:rPr lang="en-US" sz="1200">
                  <a:solidFill>
                    <a:srgbClr val="122235"/>
                  </a:solidFill>
                  <a:latin typeface="Arial"/>
                  <a:ea typeface="Arial"/>
                  <a:cs typeface="Arial"/>
                  <a:sym typeface="Arial"/>
                </a:rPr>
                <a:t>GUI, telemetry and reports</a:t>
              </a:r>
              <a:endParaRPr sz="1200">
                <a:solidFill>
                  <a:srgbClr val="122235"/>
                </a:solidFill>
                <a:latin typeface="Arial"/>
                <a:ea typeface="Arial"/>
                <a:cs typeface="Arial"/>
                <a:sym typeface="Arial"/>
              </a:endParaRPr>
            </a:p>
          </p:txBody>
        </p:sp>
      </p:grpSp>
      <p:grpSp>
        <p:nvGrpSpPr>
          <p:cNvPr id="181" name="Google Shape;181;p5"/>
          <p:cNvGrpSpPr/>
          <p:nvPr/>
        </p:nvGrpSpPr>
        <p:grpSpPr>
          <a:xfrm>
            <a:off x="4333875" y="1524000"/>
            <a:ext cx="3524400" cy="4095900"/>
            <a:chOff x="4333875" y="1524000"/>
            <a:chExt cx="3524400" cy="4095900"/>
          </a:xfrm>
        </p:grpSpPr>
        <p:sp>
          <p:nvSpPr>
            <p:cNvPr id="182" name="Google Shape;182;p5"/>
            <p:cNvSpPr/>
            <p:nvPr/>
          </p:nvSpPr>
          <p:spPr>
            <a:xfrm>
              <a:off x="4333875" y="1524000"/>
              <a:ext cx="3524400" cy="4095900"/>
            </a:xfrm>
            <a:prstGeom prst="roundRect">
              <a:avLst>
                <a:gd fmla="val 3243" name="adj"/>
              </a:avLst>
            </a:prstGeom>
            <a:solidFill>
              <a:srgbClr val="F9F4F0"/>
            </a:solidFill>
            <a:ln cap="flat" cmpd="sng" w="9525">
              <a:solidFill>
                <a:srgbClr val="EEDCC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3" name="Google Shape;183;p5"/>
            <p:cNvPicPr preferRelativeResize="0"/>
            <p:nvPr/>
          </p:nvPicPr>
          <p:blipFill rotWithShape="1">
            <a:blip r:embed="rId5">
              <a:alphaModFix/>
            </a:blip>
            <a:srcRect b="0" l="0" r="0" t="0"/>
            <a:stretch/>
          </p:blipFill>
          <p:spPr>
            <a:xfrm>
              <a:off x="4476750" y="1666875"/>
              <a:ext cx="3238500" cy="1905000"/>
            </a:xfrm>
            <a:prstGeom prst="roundRect">
              <a:avLst>
                <a:gd fmla="val 4000" name="adj"/>
              </a:avLst>
            </a:prstGeom>
            <a:noFill/>
            <a:ln>
              <a:noFill/>
            </a:ln>
          </p:spPr>
        </p:pic>
        <p:sp>
          <p:nvSpPr>
            <p:cNvPr id="184" name="Google Shape;184;p5"/>
            <p:cNvSpPr txBox="1"/>
            <p:nvPr/>
          </p:nvSpPr>
          <p:spPr>
            <a:xfrm>
              <a:off x="4476750" y="3667125"/>
              <a:ext cx="323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B2341"/>
                  </a:solidFill>
                  <a:latin typeface="Arial"/>
                  <a:ea typeface="Arial"/>
                  <a:cs typeface="Arial"/>
                  <a:sym typeface="Arial"/>
                </a:rPr>
                <a:t>Real robot integration</a:t>
              </a:r>
              <a:endParaRPr b="1" sz="1800">
                <a:solidFill>
                  <a:srgbClr val="0B2341"/>
                </a:solidFill>
                <a:latin typeface="Arial"/>
                <a:ea typeface="Arial"/>
                <a:cs typeface="Arial"/>
                <a:sym typeface="Arial"/>
              </a:endParaRPr>
            </a:p>
          </p:txBody>
        </p:sp>
        <p:cxnSp>
          <p:nvCxnSpPr>
            <p:cNvPr id="185" name="Google Shape;185;p5"/>
            <p:cNvCxnSpPr/>
            <p:nvPr/>
          </p:nvCxnSpPr>
          <p:spPr>
            <a:xfrm>
              <a:off x="4476750" y="4143375"/>
              <a:ext cx="714300" cy="0"/>
            </a:xfrm>
            <a:prstGeom prst="straightConnector1">
              <a:avLst/>
            </a:prstGeom>
            <a:solidFill>
              <a:srgbClr val="FFFFFF"/>
            </a:solidFill>
            <a:ln cap="flat" cmpd="sng" w="38100">
              <a:solidFill>
                <a:srgbClr val="D9772A"/>
              </a:solidFill>
              <a:prstDash val="solid"/>
              <a:round/>
              <a:headEnd len="sm" w="sm" type="none"/>
              <a:tailEnd len="sm" w="sm" type="none"/>
            </a:ln>
          </p:spPr>
        </p:cxnSp>
        <p:sp>
          <p:nvSpPr>
            <p:cNvPr id="186" name="Google Shape;186;p5"/>
            <p:cNvSpPr txBox="1"/>
            <p:nvPr/>
          </p:nvSpPr>
          <p:spPr>
            <a:xfrm>
              <a:off x="4476750" y="4333875"/>
              <a:ext cx="3238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200">
                  <a:solidFill>
                    <a:srgbClr val="D9772A"/>
                  </a:solidFill>
                  <a:latin typeface="Arial"/>
                  <a:ea typeface="Arial"/>
                  <a:cs typeface="Arial"/>
                  <a:sym typeface="Arial"/>
                </a:rPr>
                <a:t>●</a:t>
              </a:r>
              <a:r>
                <a:rPr lang="en-US" sz="1200">
                  <a:solidFill>
                    <a:srgbClr val="122235"/>
                  </a:solidFill>
                  <a:latin typeface="Arial"/>
                  <a:ea typeface="Arial"/>
                  <a:cs typeface="Arial"/>
                  <a:sym typeface="Arial"/>
                </a:rPr>
                <a:t>Firmware and serial protocol</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D9772A"/>
                  </a:solidFill>
                  <a:latin typeface="Arial"/>
                  <a:ea typeface="Arial"/>
                  <a:cs typeface="Arial"/>
                  <a:sym typeface="Arial"/>
                </a:rPr>
                <a:t>●</a:t>
              </a:r>
              <a:r>
                <a:rPr lang="en-US" sz="1200">
                  <a:solidFill>
                    <a:srgbClr val="122235"/>
                  </a:solidFill>
                  <a:latin typeface="Arial"/>
                  <a:ea typeface="Arial"/>
                  <a:cs typeface="Arial"/>
                  <a:sym typeface="Arial"/>
                </a:rPr>
                <a:t>EKF and hardware interfaces</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D9772A"/>
                  </a:solidFill>
                  <a:latin typeface="Arial"/>
                  <a:ea typeface="Arial"/>
                  <a:cs typeface="Arial"/>
                  <a:sym typeface="Arial"/>
                </a:rPr>
                <a:t>●</a:t>
              </a:r>
              <a:r>
                <a:rPr lang="en-US" sz="1200">
                  <a:solidFill>
                    <a:srgbClr val="122235"/>
                  </a:solidFill>
                  <a:latin typeface="Arial"/>
                  <a:ea typeface="Arial"/>
                  <a:cs typeface="Arial"/>
                  <a:sym typeface="Arial"/>
                </a:rPr>
                <a:t>LiDAR-to-gate perception</a:t>
              </a:r>
              <a:endParaRPr sz="1200">
                <a:solidFill>
                  <a:srgbClr val="122235"/>
                </a:solidFill>
                <a:latin typeface="Arial"/>
                <a:ea typeface="Arial"/>
                <a:cs typeface="Arial"/>
                <a:sym typeface="Arial"/>
              </a:endParaRPr>
            </a:p>
          </p:txBody>
        </p:sp>
      </p:grpSp>
      <p:grpSp>
        <p:nvGrpSpPr>
          <p:cNvPr id="187" name="Google Shape;187;p5"/>
          <p:cNvGrpSpPr/>
          <p:nvPr/>
        </p:nvGrpSpPr>
        <p:grpSpPr>
          <a:xfrm>
            <a:off x="8096250" y="1524000"/>
            <a:ext cx="3524400" cy="4095900"/>
            <a:chOff x="8096250" y="1524000"/>
            <a:chExt cx="3524400" cy="4095900"/>
          </a:xfrm>
        </p:grpSpPr>
        <p:sp>
          <p:nvSpPr>
            <p:cNvPr id="188" name="Google Shape;188;p5"/>
            <p:cNvSpPr/>
            <p:nvPr/>
          </p:nvSpPr>
          <p:spPr>
            <a:xfrm>
              <a:off x="8096250" y="1524000"/>
              <a:ext cx="3524400" cy="4095900"/>
            </a:xfrm>
            <a:prstGeom prst="roundRect">
              <a:avLst>
                <a:gd fmla="val 3243" name="adj"/>
              </a:avLst>
            </a:prstGeom>
            <a:solidFill>
              <a:srgbClr val="F0F9F6"/>
            </a:solidFill>
            <a:ln cap="flat" cmpd="sng" w="9525">
              <a:solidFill>
                <a:srgbClr val="CBEED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9" name="Google Shape;189;p5"/>
            <p:cNvPicPr preferRelativeResize="0"/>
            <p:nvPr/>
          </p:nvPicPr>
          <p:blipFill rotWithShape="1">
            <a:blip r:embed="rId6">
              <a:alphaModFix/>
            </a:blip>
            <a:srcRect b="0" l="0" r="0" t="0"/>
            <a:stretch/>
          </p:blipFill>
          <p:spPr>
            <a:xfrm>
              <a:off x="8239125" y="1666875"/>
              <a:ext cx="3238500" cy="1905000"/>
            </a:xfrm>
            <a:prstGeom prst="roundRect">
              <a:avLst>
                <a:gd fmla="val 4000" name="adj"/>
              </a:avLst>
            </a:prstGeom>
            <a:noFill/>
            <a:ln>
              <a:noFill/>
            </a:ln>
          </p:spPr>
        </p:pic>
        <p:sp>
          <p:nvSpPr>
            <p:cNvPr id="190" name="Google Shape;190;p5"/>
            <p:cNvSpPr txBox="1"/>
            <p:nvPr/>
          </p:nvSpPr>
          <p:spPr>
            <a:xfrm>
              <a:off x="8239125" y="3667125"/>
              <a:ext cx="3238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B2341"/>
                  </a:solidFill>
                  <a:latin typeface="Arial"/>
                  <a:ea typeface="Arial"/>
                  <a:cs typeface="Arial"/>
                  <a:sym typeface="Arial"/>
                </a:rPr>
                <a:t>Experimental validation</a:t>
              </a:r>
              <a:endParaRPr b="1" sz="1800">
                <a:solidFill>
                  <a:srgbClr val="0B2341"/>
                </a:solidFill>
                <a:latin typeface="Arial"/>
                <a:ea typeface="Arial"/>
                <a:cs typeface="Arial"/>
                <a:sym typeface="Arial"/>
              </a:endParaRPr>
            </a:p>
          </p:txBody>
        </p:sp>
        <p:cxnSp>
          <p:nvCxnSpPr>
            <p:cNvPr id="191" name="Google Shape;191;p5"/>
            <p:cNvCxnSpPr/>
            <p:nvPr/>
          </p:nvCxnSpPr>
          <p:spPr>
            <a:xfrm>
              <a:off x="8239125" y="4143375"/>
              <a:ext cx="714300" cy="0"/>
            </a:xfrm>
            <a:prstGeom prst="straightConnector1">
              <a:avLst/>
            </a:prstGeom>
            <a:solidFill>
              <a:srgbClr val="FFFFFF"/>
            </a:solidFill>
            <a:ln cap="flat" cmpd="sng" w="38100">
              <a:solidFill>
                <a:srgbClr val="2B8A6E"/>
              </a:solidFill>
              <a:prstDash val="solid"/>
              <a:round/>
              <a:headEnd len="sm" w="sm" type="none"/>
              <a:tailEnd len="sm" w="sm" type="none"/>
            </a:ln>
          </p:spPr>
        </p:cxnSp>
        <p:sp>
          <p:nvSpPr>
            <p:cNvPr id="192" name="Google Shape;192;p5"/>
            <p:cNvSpPr txBox="1"/>
            <p:nvPr/>
          </p:nvSpPr>
          <p:spPr>
            <a:xfrm>
              <a:off x="8239125" y="4333875"/>
              <a:ext cx="3238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200">
                  <a:solidFill>
                    <a:srgbClr val="2B8A6E"/>
                  </a:solidFill>
                  <a:latin typeface="Arial"/>
                  <a:ea typeface="Arial"/>
                  <a:cs typeface="Arial"/>
                  <a:sym typeface="Arial"/>
                </a:rPr>
                <a:t>●</a:t>
              </a:r>
              <a:r>
                <a:rPr lang="en-US" sz="1200">
                  <a:solidFill>
                    <a:srgbClr val="122235"/>
                  </a:solidFill>
                  <a:latin typeface="Arial"/>
                  <a:ea typeface="Arial"/>
                  <a:cs typeface="Arial"/>
                  <a:sym typeface="Arial"/>
                </a:rPr>
                <a:t>Structured navigation</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2B8A6E"/>
                  </a:solidFill>
                  <a:latin typeface="Arial"/>
                  <a:ea typeface="Arial"/>
                  <a:cs typeface="Arial"/>
                  <a:sym typeface="Arial"/>
                </a:rPr>
                <a:t>●</a:t>
              </a:r>
              <a:r>
                <a:rPr lang="en-US" sz="1200">
                  <a:solidFill>
                    <a:srgbClr val="122235"/>
                  </a:solidFill>
                  <a:latin typeface="Arial"/>
                  <a:ea typeface="Arial"/>
                  <a:cs typeface="Arial"/>
                  <a:sym typeface="Arial"/>
                </a:rPr>
                <a:t>Unstructured navigation</a:t>
              </a:r>
              <a:endParaRPr sz="1200">
                <a:solidFill>
                  <a:srgbClr val="122235"/>
                </a:solidFill>
                <a:latin typeface="Arial"/>
                <a:ea typeface="Arial"/>
                <a:cs typeface="Arial"/>
                <a:sym typeface="Arial"/>
              </a:endParaRPr>
            </a:p>
            <a:p>
              <a:pPr indent="0" lvl="0" marL="0" rtl="0" algn="l">
                <a:spcBef>
                  <a:spcPts val="900"/>
                </a:spcBef>
                <a:spcAft>
                  <a:spcPts val="0"/>
                </a:spcAft>
                <a:buNone/>
              </a:pPr>
              <a:r>
                <a:rPr lang="en-US" sz="1200">
                  <a:solidFill>
                    <a:srgbClr val="2B8A6E"/>
                  </a:solidFill>
                  <a:latin typeface="Arial"/>
                  <a:ea typeface="Arial"/>
                  <a:cs typeface="Arial"/>
                  <a:sym typeface="Arial"/>
                </a:rPr>
                <a:t>●</a:t>
              </a:r>
              <a:r>
                <a:rPr lang="en-US" sz="1200">
                  <a:solidFill>
                    <a:srgbClr val="122235"/>
                  </a:solidFill>
                  <a:latin typeface="Arial"/>
                  <a:ea typeface="Arial"/>
                  <a:cs typeface="Arial"/>
                  <a:sym typeface="Arial"/>
                </a:rPr>
                <a:t>Mixed road / gate behavior</a:t>
              </a:r>
              <a:endParaRPr sz="1200">
                <a:solidFill>
                  <a:srgbClr val="122235"/>
                </a:solidFill>
                <a:latin typeface="Arial"/>
                <a:ea typeface="Arial"/>
                <a:cs typeface="Arial"/>
                <a:sym typeface="Arial"/>
              </a:endParaRPr>
            </a:p>
          </p:txBody>
        </p:sp>
      </p:grpSp>
      <p:grpSp>
        <p:nvGrpSpPr>
          <p:cNvPr id="193" name="Google Shape;193;p5"/>
          <p:cNvGrpSpPr/>
          <p:nvPr/>
        </p:nvGrpSpPr>
        <p:grpSpPr>
          <a:xfrm>
            <a:off x="571500" y="5905500"/>
            <a:ext cx="11049000" cy="571500"/>
            <a:chOff x="571500" y="5905500"/>
            <a:chExt cx="11049000" cy="571500"/>
          </a:xfrm>
        </p:grpSpPr>
        <p:sp>
          <p:nvSpPr>
            <p:cNvPr id="194" name="Google Shape;194;p5"/>
            <p:cNvSpPr/>
            <p:nvPr/>
          </p:nvSpPr>
          <p:spPr>
            <a:xfrm>
              <a:off x="571500" y="5905500"/>
              <a:ext cx="11049000" cy="571500"/>
            </a:xfrm>
            <a:prstGeom prst="roundRect">
              <a:avLst>
                <a:gd fmla="val 13333" name="adj"/>
              </a:avLst>
            </a:prstGeom>
            <a:solidFill>
              <a:srgbClr val="F3F7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5" name="Google Shape;195;p5"/>
            <p:cNvSpPr txBox="1"/>
            <p:nvPr/>
          </p:nvSpPr>
          <p:spPr>
            <a:xfrm>
              <a:off x="762000" y="5905500"/>
              <a:ext cx="1905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1667A8"/>
                  </a:solidFill>
                  <a:latin typeface="Arial"/>
                  <a:ea typeface="Arial"/>
                  <a:cs typeface="Arial"/>
                  <a:sym typeface="Arial"/>
                </a:rPr>
                <a:t>Contribution boundary</a:t>
              </a:r>
              <a:endParaRPr b="1" sz="900">
                <a:solidFill>
                  <a:srgbClr val="1667A8"/>
                </a:solidFill>
                <a:latin typeface="Arial"/>
                <a:ea typeface="Arial"/>
                <a:cs typeface="Arial"/>
                <a:sym typeface="Arial"/>
              </a:endParaRPr>
            </a:p>
          </p:txBody>
        </p:sp>
        <p:sp>
          <p:nvSpPr>
            <p:cNvPr id="196" name="Google Shape;196;p5"/>
            <p:cNvSpPr txBox="1"/>
            <p:nvPr/>
          </p:nvSpPr>
          <p:spPr>
            <a:xfrm>
              <a:off x="2667000" y="5905500"/>
              <a:ext cx="8763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B2341"/>
                  </a:solidFill>
                  <a:latin typeface="Arial"/>
                  <a:ea typeface="Arial"/>
                  <a:cs typeface="Arial"/>
                  <a:sym typeface="Arial"/>
                </a:rPr>
                <a:t>The planner was not redesigned; the infrastructure required to execute, observe and validate it on real robots was engineered.</a:t>
              </a:r>
              <a:endParaRPr b="1" sz="1400">
                <a:solidFill>
                  <a:srgbClr val="0B2341"/>
                </a:solidFill>
                <a:latin typeface="Arial"/>
                <a:ea typeface="Arial"/>
                <a:cs typeface="Arial"/>
                <a:sym typeface="Arial"/>
              </a:endParaRPr>
            </a:p>
          </p:txBody>
        </p:sp>
      </p:grpSp>
      <p:sp>
        <p:nvSpPr>
          <p:cNvPr id="197" name="Google Shape;197;p5"/>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2" name="Shape 202"/>
        <p:cNvGrpSpPr/>
        <p:nvPr/>
      </p:nvGrpSpPr>
      <p:grpSpPr>
        <a:xfrm>
          <a:off x="0" y="0"/>
          <a:ext cx="0" cy="0"/>
          <a:chOff x="0" y="0"/>
          <a:chExt cx="0" cy="0"/>
        </a:xfrm>
      </p:grpSpPr>
      <p:grpSp>
        <p:nvGrpSpPr>
          <p:cNvPr id="203" name="Google Shape;203;p6"/>
          <p:cNvGrpSpPr/>
          <p:nvPr/>
        </p:nvGrpSpPr>
        <p:grpSpPr>
          <a:xfrm>
            <a:off x="571500" y="381000"/>
            <a:ext cx="11049000" cy="1095525"/>
            <a:chOff x="571500" y="381000"/>
            <a:chExt cx="11049000" cy="1095525"/>
          </a:xfrm>
        </p:grpSpPr>
        <p:sp>
          <p:nvSpPr>
            <p:cNvPr id="204" name="Google Shape;204;p6"/>
            <p:cNvSpPr txBox="1"/>
            <p:nvPr/>
          </p:nvSpPr>
          <p:spPr>
            <a:xfrm>
              <a:off x="571500" y="381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1667A8"/>
                  </a:solidFill>
                  <a:latin typeface="Arial"/>
                  <a:ea typeface="Arial"/>
                  <a:cs typeface="Arial"/>
                  <a:sym typeface="Arial"/>
                </a:rPr>
                <a:t>SYSTEM DEMONSTRATION</a:t>
              </a:r>
              <a:endParaRPr b="1" sz="900">
                <a:solidFill>
                  <a:srgbClr val="1667A8"/>
                </a:solidFill>
                <a:latin typeface="Arial"/>
                <a:ea typeface="Arial"/>
                <a:cs typeface="Arial"/>
                <a:sym typeface="Arial"/>
              </a:endParaRPr>
            </a:p>
          </p:txBody>
        </p:sp>
        <p:sp>
          <p:nvSpPr>
            <p:cNvPr id="205" name="Google Shape;205;p6"/>
            <p:cNvSpPr txBox="1"/>
            <p:nvPr/>
          </p:nvSpPr>
          <p:spPr>
            <a:xfrm>
              <a:off x="571500" y="666750"/>
              <a:ext cx="11049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B2341"/>
                  </a:solidFill>
                  <a:latin typeface="Arial"/>
                  <a:ea typeface="Arial"/>
                  <a:cs typeface="Arial"/>
                  <a:sym typeface="Arial"/>
                </a:rPr>
                <a:t>Unified architecture: simulation and hardware</a:t>
              </a:r>
              <a:endParaRPr b="1" sz="2800">
                <a:solidFill>
                  <a:srgbClr val="0B2341"/>
                </a:solidFill>
                <a:latin typeface="Arial"/>
                <a:ea typeface="Arial"/>
                <a:cs typeface="Arial"/>
                <a:sym typeface="Arial"/>
              </a:endParaRPr>
            </a:p>
          </p:txBody>
        </p:sp>
        <p:sp>
          <p:nvSpPr>
            <p:cNvPr id="206" name="Google Shape;206;p6"/>
            <p:cNvSpPr txBox="1"/>
            <p:nvPr/>
          </p:nvSpPr>
          <p:spPr>
            <a:xfrm>
              <a:off x="571500" y="1190625"/>
              <a:ext cx="11049000" cy="285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300">
                  <a:solidFill>
                    <a:srgbClr val="53677A"/>
                  </a:solidFill>
                  <a:latin typeface="Arial"/>
                  <a:ea typeface="Arial"/>
                  <a:cs typeface="Arial"/>
                  <a:sym typeface="Arial"/>
                </a:rPr>
                <a:t>Same navigation logic, consistent interface across different physical platforms</a:t>
              </a:r>
              <a:endParaRPr b="0" sz="1300">
                <a:solidFill>
                  <a:srgbClr val="53677A"/>
                </a:solidFill>
                <a:latin typeface="Arial"/>
                <a:ea typeface="Arial"/>
                <a:cs typeface="Arial"/>
                <a:sym typeface="Arial"/>
              </a:endParaRPr>
            </a:p>
          </p:txBody>
        </p:sp>
      </p:grpSp>
      <p:grpSp>
        <p:nvGrpSpPr>
          <p:cNvPr id="207" name="Google Shape;207;p6"/>
          <p:cNvGrpSpPr/>
          <p:nvPr/>
        </p:nvGrpSpPr>
        <p:grpSpPr>
          <a:xfrm>
            <a:off x="571500" y="1714500"/>
            <a:ext cx="5572200" cy="4000500"/>
            <a:chOff x="571500" y="1714500"/>
            <a:chExt cx="5572200" cy="4000500"/>
          </a:xfrm>
        </p:grpSpPr>
        <p:sp>
          <p:nvSpPr>
            <p:cNvPr id="208" name="Google Shape;208;p6"/>
            <p:cNvSpPr/>
            <p:nvPr/>
          </p:nvSpPr>
          <p:spPr>
            <a:xfrm>
              <a:off x="571500" y="1714500"/>
              <a:ext cx="5572200" cy="4000500"/>
            </a:xfrm>
            <a:prstGeom prst="roundRect">
              <a:avLst>
                <a:gd fmla="val 2857" name="adj"/>
              </a:avLst>
            </a:prstGeom>
            <a:solidFill>
              <a:srgbClr val="F3F7FA"/>
            </a:solidFill>
            <a:ln cap="flat" cmpd="sng" w="9525">
              <a:solidFill>
                <a:srgbClr val="DCE5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9" name="Google Shape;209;p6"/>
            <p:cNvPicPr preferRelativeResize="0"/>
            <p:nvPr/>
          </p:nvPicPr>
          <p:blipFill rotWithShape="1">
            <a:blip r:embed="rId4">
              <a:alphaModFix/>
            </a:blip>
            <a:srcRect b="0" l="0" r="0" t="0"/>
            <a:stretch/>
          </p:blipFill>
          <p:spPr>
            <a:xfrm>
              <a:off x="762000" y="1905000"/>
              <a:ext cx="5191200" cy="2857500"/>
            </a:xfrm>
            <a:prstGeom prst="roundRect">
              <a:avLst>
                <a:gd fmla="val 2666" name="adj"/>
              </a:avLst>
            </a:prstGeom>
            <a:noFill/>
            <a:ln>
              <a:noFill/>
            </a:ln>
          </p:spPr>
        </p:pic>
        <p:sp>
          <p:nvSpPr>
            <p:cNvPr id="210" name="Google Shape;210;p6"/>
            <p:cNvSpPr txBox="1"/>
            <p:nvPr/>
          </p:nvSpPr>
          <p:spPr>
            <a:xfrm>
              <a:off x="762000" y="4953000"/>
              <a:ext cx="51912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1667A8"/>
                  </a:solidFill>
                  <a:latin typeface="Arial"/>
                  <a:ea typeface="Arial"/>
                  <a:cs typeface="Arial"/>
                  <a:sym typeface="Arial"/>
                </a:rPr>
                <a:t>SIMULATED ENVIRONMENT</a:t>
              </a:r>
              <a:endParaRPr b="1" sz="1400">
                <a:solidFill>
                  <a:srgbClr val="1667A8"/>
                </a:solidFill>
                <a:latin typeface="Arial"/>
                <a:ea typeface="Arial"/>
                <a:cs typeface="Arial"/>
                <a:sym typeface="Arial"/>
              </a:endParaRPr>
            </a:p>
            <a:p>
              <a:pPr indent="0" lvl="0" marL="0" rtl="0" algn="l">
                <a:spcBef>
                  <a:spcPts val="0"/>
                </a:spcBef>
                <a:spcAft>
                  <a:spcPts val="0"/>
                </a:spcAft>
                <a:buNone/>
              </a:pPr>
              <a:r>
                <a:rPr b="0" lang="en-US" sz="1000">
                  <a:solidFill>
                    <a:srgbClr val="53677A"/>
                  </a:solidFill>
                  <a:latin typeface="Arial"/>
                  <a:ea typeface="Arial"/>
                  <a:cs typeface="Arial"/>
                  <a:sym typeface="Arial"/>
                </a:rPr>
                <a:t>Logic validation in an ideal scenario</a:t>
              </a:r>
              <a:endParaRPr b="0" sz="1000">
                <a:solidFill>
                  <a:srgbClr val="53677A"/>
                </a:solidFill>
                <a:latin typeface="Arial"/>
                <a:ea typeface="Arial"/>
                <a:cs typeface="Arial"/>
                <a:sym typeface="Arial"/>
              </a:endParaRPr>
            </a:p>
          </p:txBody>
        </p:sp>
      </p:grpSp>
      <p:grpSp>
        <p:nvGrpSpPr>
          <p:cNvPr id="211" name="Google Shape;211;p6"/>
          <p:cNvGrpSpPr/>
          <p:nvPr/>
        </p:nvGrpSpPr>
        <p:grpSpPr>
          <a:xfrm>
            <a:off x="6334125" y="1714500"/>
            <a:ext cx="5286300" cy="4000500"/>
            <a:chOff x="6334125" y="1714500"/>
            <a:chExt cx="5286300" cy="4000500"/>
          </a:xfrm>
        </p:grpSpPr>
        <p:sp>
          <p:nvSpPr>
            <p:cNvPr id="212" name="Google Shape;212;p6"/>
            <p:cNvSpPr/>
            <p:nvPr/>
          </p:nvSpPr>
          <p:spPr>
            <a:xfrm>
              <a:off x="6334125" y="1714500"/>
              <a:ext cx="5286300" cy="4000500"/>
            </a:xfrm>
            <a:prstGeom prst="roundRect">
              <a:avLst>
                <a:gd fmla="val 2857" name="adj"/>
              </a:avLst>
            </a:prstGeom>
            <a:solidFill>
              <a:srgbClr val="F9F4F0"/>
            </a:solidFill>
            <a:ln cap="flat" cmpd="sng" w="9525">
              <a:solidFill>
                <a:srgbClr val="EEDCC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3" name="Google Shape;213;p6"/>
            <p:cNvPicPr preferRelativeResize="0"/>
            <p:nvPr/>
          </p:nvPicPr>
          <p:blipFill rotWithShape="1">
            <a:blip r:embed="rId5">
              <a:alphaModFix/>
            </a:blip>
            <a:srcRect b="0" l="0" r="0" t="0"/>
            <a:stretch/>
          </p:blipFill>
          <p:spPr>
            <a:xfrm>
              <a:off x="6524625" y="1905000"/>
              <a:ext cx="2333700" cy="1714500"/>
            </a:xfrm>
            <a:prstGeom prst="roundRect">
              <a:avLst>
                <a:gd fmla="val 4444" name="adj"/>
              </a:avLst>
            </a:prstGeom>
            <a:noFill/>
            <a:ln>
              <a:noFill/>
            </a:ln>
          </p:spPr>
        </p:pic>
        <p:pic>
          <p:nvPicPr>
            <p:cNvPr id="214" name="Google Shape;214;p6"/>
            <p:cNvPicPr preferRelativeResize="0"/>
            <p:nvPr/>
          </p:nvPicPr>
          <p:blipFill rotWithShape="1">
            <a:blip r:embed="rId6">
              <a:alphaModFix/>
            </a:blip>
            <a:srcRect b="0" l="0" r="0" t="0"/>
            <a:stretch/>
          </p:blipFill>
          <p:spPr>
            <a:xfrm>
              <a:off x="9096375" y="1905000"/>
              <a:ext cx="2333700" cy="1714500"/>
            </a:xfrm>
            <a:prstGeom prst="roundRect">
              <a:avLst>
                <a:gd fmla="val 4444" name="adj"/>
              </a:avLst>
            </a:prstGeom>
            <a:noFill/>
            <a:ln>
              <a:noFill/>
            </a:ln>
          </p:spPr>
        </p:pic>
        <p:sp>
          <p:nvSpPr>
            <p:cNvPr id="215" name="Google Shape;215;p6"/>
            <p:cNvSpPr txBox="1"/>
            <p:nvPr/>
          </p:nvSpPr>
          <p:spPr>
            <a:xfrm>
              <a:off x="6524625" y="3714750"/>
              <a:ext cx="2333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1667A8"/>
                  </a:solidFill>
                  <a:latin typeface="Arial"/>
                  <a:ea typeface="Arial"/>
                  <a:cs typeface="Arial"/>
                  <a:sym typeface="Arial"/>
                </a:rPr>
                <a:t>ROBOT CAR</a:t>
              </a:r>
              <a:endParaRPr b="1" sz="900">
                <a:solidFill>
                  <a:srgbClr val="1667A8"/>
                </a:solidFill>
                <a:latin typeface="Arial"/>
                <a:ea typeface="Arial"/>
                <a:cs typeface="Arial"/>
                <a:sym typeface="Arial"/>
              </a:endParaRPr>
            </a:p>
          </p:txBody>
        </p:sp>
        <p:sp>
          <p:nvSpPr>
            <p:cNvPr id="216" name="Google Shape;216;p6"/>
            <p:cNvSpPr txBox="1"/>
            <p:nvPr/>
          </p:nvSpPr>
          <p:spPr>
            <a:xfrm>
              <a:off x="9096375" y="3714750"/>
              <a:ext cx="2333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00">
                  <a:solidFill>
                    <a:srgbClr val="D9772A"/>
                  </a:solidFill>
                  <a:latin typeface="Arial"/>
                  <a:ea typeface="Arial"/>
                  <a:cs typeface="Arial"/>
                  <a:sym typeface="Arial"/>
                </a:rPr>
                <a:t>TRACKED ROBOT</a:t>
              </a:r>
              <a:endParaRPr b="1" sz="900">
                <a:solidFill>
                  <a:srgbClr val="D9772A"/>
                </a:solidFill>
                <a:latin typeface="Arial"/>
                <a:ea typeface="Arial"/>
                <a:cs typeface="Arial"/>
                <a:sym typeface="Arial"/>
              </a:endParaRPr>
            </a:p>
          </p:txBody>
        </p:sp>
        <p:sp>
          <p:nvSpPr>
            <p:cNvPr id="217" name="Google Shape;217;p6"/>
            <p:cNvSpPr/>
            <p:nvPr/>
          </p:nvSpPr>
          <p:spPr>
            <a:xfrm>
              <a:off x="6524625" y="4476750"/>
              <a:ext cx="4905300" cy="1047900"/>
            </a:xfrm>
            <a:prstGeom prst="roundRect">
              <a:avLst>
                <a:gd fmla="val 7272" name="adj"/>
              </a:avLst>
            </a:prstGeom>
            <a:solidFill>
              <a:srgbClr val="0B234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6"/>
            <p:cNvSpPr txBox="1"/>
            <p:nvPr/>
          </p:nvSpPr>
          <p:spPr>
            <a:xfrm>
              <a:off x="6715125" y="4619625"/>
              <a:ext cx="45243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Arial"/>
                  <a:ea typeface="Arial"/>
                  <a:cs typeface="Arial"/>
                  <a:sym typeface="Arial"/>
                </a:rPr>
                <a:t>Agnostic Core</a:t>
              </a:r>
              <a:endParaRPr b="1" sz="1600">
                <a:solidFill>
                  <a:srgbClr val="FFFFFF"/>
                </a:solidFill>
                <a:latin typeface="Arial"/>
                <a:ea typeface="Arial"/>
                <a:cs typeface="Arial"/>
                <a:sym typeface="Arial"/>
              </a:endParaRPr>
            </a:p>
            <a:p>
              <a:pPr indent="0" lvl="0" marL="0" rtl="0" algn="ctr">
                <a:spcBef>
                  <a:spcPts val="375"/>
                </a:spcBef>
                <a:spcAft>
                  <a:spcPts val="375"/>
                </a:spcAft>
                <a:buNone/>
              </a:pPr>
              <a:r>
                <a:rPr b="0" lang="en-US" sz="1000">
                  <a:solidFill>
                    <a:srgbClr val="DDEBF5"/>
                  </a:solidFill>
                  <a:latin typeface="Arial"/>
                  <a:ea typeface="Arial"/>
                  <a:cs typeface="Arial"/>
                  <a:sym typeface="Arial"/>
                </a:rPr>
                <a:t>Same planner · Same navigation · Different platforms</a:t>
              </a:r>
              <a:endParaRPr b="0" sz="1000">
                <a:solidFill>
                  <a:srgbClr val="DDEBF5"/>
                </a:solidFill>
                <a:latin typeface="Arial"/>
                <a:ea typeface="Arial"/>
                <a:cs typeface="Arial"/>
                <a:sym typeface="Arial"/>
              </a:endParaRPr>
            </a:p>
          </p:txBody>
        </p:sp>
      </p:grpSp>
      <p:sp>
        <p:nvSpPr>
          <p:cNvPr id="219" name="Google Shape;219;p6"/>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cxnSp>
        <p:nvCxnSpPr>
          <p:cNvPr id="225" name="Google Shape;225;p7"/>
          <p:cNvCxnSpPr/>
          <p:nvPr/>
        </p:nvCxnSpPr>
        <p:spPr>
          <a:xfrm>
            <a:off x="502920" y="228600"/>
            <a:ext cx="11183100" cy="0"/>
          </a:xfrm>
          <a:prstGeom prst="straightConnector1">
            <a:avLst/>
          </a:prstGeom>
          <a:noFill/>
          <a:ln cap="flat" cmpd="sng" w="10150">
            <a:solidFill>
              <a:srgbClr val="DCE5EE"/>
            </a:solidFill>
            <a:prstDash val="solid"/>
            <a:round/>
            <a:headEnd len="sm" w="sm" type="none"/>
            <a:tailEnd len="sm" w="sm" type="none"/>
          </a:ln>
        </p:spPr>
      </p:cxnSp>
      <p:cxnSp>
        <p:nvCxnSpPr>
          <p:cNvPr id="226" name="Google Shape;226;p7"/>
          <p:cNvCxnSpPr/>
          <p:nvPr/>
        </p:nvCxnSpPr>
        <p:spPr>
          <a:xfrm>
            <a:off x="571500" y="228600"/>
            <a:ext cx="11049000" cy="0"/>
          </a:xfrm>
          <a:prstGeom prst="straightConnector1">
            <a:avLst/>
          </a:prstGeom>
          <a:solidFill>
            <a:srgbClr val="FFFFFF"/>
          </a:solidFill>
          <a:ln cap="flat" cmpd="sng" w="9525">
            <a:solidFill>
              <a:srgbClr val="DCE5EE"/>
            </a:solidFill>
            <a:prstDash val="solid"/>
            <a:round/>
            <a:headEnd len="sm" w="sm" type="none"/>
            <a:tailEnd len="sm" w="sm" type="none"/>
          </a:ln>
        </p:spPr>
      </p:cxnSp>
      <p:sp>
        <p:nvSpPr>
          <p:cNvPr id="227" name="Google Shape;227;p7"/>
          <p:cNvSpPr/>
          <p:nvPr/>
        </p:nvSpPr>
        <p:spPr>
          <a:xfrm>
            <a:off x="530352" y="54864"/>
            <a:ext cx="42063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657A"/>
              </a:buClr>
              <a:buSzPts val="750"/>
              <a:buFont typeface="Arial"/>
              <a:buNone/>
            </a:pPr>
            <a:r>
              <a:rPr b="1" i="0" lang="en-US" sz="750" u="none" cap="none" strike="noStrike">
                <a:solidFill>
                  <a:srgbClr val="50657A"/>
                </a:solidFill>
                <a:latin typeface="Arial"/>
                <a:ea typeface="Arial"/>
                <a:cs typeface="Arial"/>
                <a:sym typeface="Arial"/>
              </a:rPr>
              <a:t>ISMAELE CARBONARI  ·  FBK 3DOM</a:t>
            </a:r>
            <a:endParaRPr b="0" i="0" sz="750" u="none" cap="none" strike="noStrike">
              <a:solidFill>
                <a:schemeClr val="dk1"/>
              </a:solidFill>
              <a:latin typeface="Arial"/>
              <a:ea typeface="Arial"/>
              <a:cs typeface="Arial"/>
              <a:sym typeface="Arial"/>
            </a:endParaRPr>
          </a:p>
        </p:txBody>
      </p:sp>
      <p:sp>
        <p:nvSpPr>
          <p:cNvPr id="228" name="Google Shape;228;p7"/>
          <p:cNvSpPr/>
          <p:nvPr/>
        </p:nvSpPr>
        <p:spPr>
          <a:xfrm>
            <a:off x="571500" y="571500"/>
            <a:ext cx="110490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200">
                <a:solidFill>
                  <a:srgbClr val="0B2341"/>
                </a:solidFill>
                <a:latin typeface="Arial"/>
                <a:ea typeface="Arial"/>
                <a:cs typeface="Arial"/>
                <a:sym typeface="Arial"/>
              </a:rPr>
              <a:t>Evaluation of decision architecture across three levels</a:t>
            </a:r>
            <a:endParaRPr b="1" sz="3200">
              <a:solidFill>
                <a:srgbClr val="0B2341"/>
              </a:solidFill>
              <a:latin typeface="Arial"/>
              <a:ea typeface="Arial"/>
              <a:cs typeface="Arial"/>
              <a:sym typeface="Arial"/>
            </a:endParaRPr>
          </a:p>
        </p:txBody>
      </p:sp>
      <p:sp>
        <p:nvSpPr>
          <p:cNvPr id="229" name="Google Shape;229;p7"/>
          <p:cNvSpPr/>
          <p:nvPr/>
        </p:nvSpPr>
        <p:spPr>
          <a:xfrm>
            <a:off x="566928" y="393192"/>
            <a:ext cx="3474600" cy="2013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850"/>
              <a:buFont typeface="Arial"/>
              <a:buNone/>
            </a:pPr>
            <a:r>
              <a:rPr b="1" i="0" lang="en-US" sz="850" u="none" cap="none" strike="noStrike">
                <a:solidFill>
                  <a:srgbClr val="1667A8"/>
                </a:solidFill>
                <a:latin typeface="Arial"/>
                <a:ea typeface="Arial"/>
                <a:cs typeface="Arial"/>
                <a:sym typeface="Arial"/>
              </a:rPr>
              <a:t>SIM-TO-REAL VALIDATION</a:t>
            </a:r>
            <a:endParaRPr b="0" i="0" sz="850" u="none" cap="none" strike="noStrike">
              <a:solidFill>
                <a:schemeClr val="dk1"/>
              </a:solidFill>
              <a:latin typeface="Arial"/>
              <a:ea typeface="Arial"/>
              <a:cs typeface="Arial"/>
              <a:sym typeface="Arial"/>
            </a:endParaRPr>
          </a:p>
        </p:txBody>
      </p:sp>
      <p:sp>
        <p:nvSpPr>
          <p:cNvPr id="230" name="Google Shape;230;p7"/>
          <p:cNvSpPr/>
          <p:nvPr/>
        </p:nvSpPr>
        <p:spPr>
          <a:xfrm>
            <a:off x="571500" y="1190625"/>
            <a:ext cx="11049000" cy="2859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400">
                <a:solidFill>
                  <a:srgbClr val="53677A"/>
                </a:solidFill>
                <a:latin typeface="Arial"/>
                <a:ea typeface="Arial"/>
                <a:cs typeface="Arial"/>
                <a:sym typeface="Arial"/>
              </a:rPr>
              <a:t>L0: Ideal Simulation • L1: Hardware-Informed Baseline • L2: Physical Robot</a:t>
            </a:r>
            <a:endParaRPr b="0" sz="1400">
              <a:solidFill>
                <a:srgbClr val="53677A"/>
              </a:solidFill>
              <a:latin typeface="Arial"/>
              <a:ea typeface="Arial"/>
              <a:cs typeface="Arial"/>
              <a:sym typeface="Arial"/>
            </a:endParaRPr>
          </a:p>
        </p:txBody>
      </p:sp>
      <p:sp>
        <p:nvSpPr>
          <p:cNvPr id="231" name="Google Shape;231;p7"/>
          <p:cNvSpPr/>
          <p:nvPr/>
        </p:nvSpPr>
        <p:spPr>
          <a:xfrm>
            <a:off x="571500" y="1714500"/>
            <a:ext cx="7429500" cy="4381500"/>
          </a:xfrm>
          <a:prstGeom prst="roundRect">
            <a:avLst>
              <a:gd fmla="val 2608" name="adj"/>
            </a:avLst>
          </a:prstGeom>
          <a:solidFill>
            <a:srgbClr val="F3F7FA"/>
          </a:solidFill>
          <a:ln cap="flat" cmpd="sng" w="9525">
            <a:solidFill>
              <a:srgbClr val="DCE5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2" name="Google Shape;232;p7"/>
          <p:cNvPicPr preferRelativeResize="0"/>
          <p:nvPr/>
        </p:nvPicPr>
        <p:blipFill rotWithShape="1">
          <a:blip r:embed="rId4">
            <a:alphaModFix/>
          </a:blip>
          <a:srcRect b="0" l="0" r="0" t="0"/>
          <a:stretch/>
        </p:blipFill>
        <p:spPr>
          <a:xfrm>
            <a:off x="762000" y="2095500"/>
            <a:ext cx="7048500" cy="3619500"/>
          </a:xfrm>
          <a:prstGeom prst="rect">
            <a:avLst/>
          </a:prstGeom>
          <a:noFill/>
          <a:ln>
            <a:noFill/>
          </a:ln>
        </p:spPr>
      </p:pic>
      <p:grpSp>
        <p:nvGrpSpPr>
          <p:cNvPr id="233" name="Google Shape;233;p7"/>
          <p:cNvGrpSpPr/>
          <p:nvPr/>
        </p:nvGrpSpPr>
        <p:grpSpPr>
          <a:xfrm>
            <a:off x="8191500" y="1714500"/>
            <a:ext cx="3429000" cy="4048050"/>
            <a:chOff x="8191500" y="1714500"/>
            <a:chExt cx="3429000" cy="4048050"/>
          </a:xfrm>
        </p:grpSpPr>
        <p:sp>
          <p:nvSpPr>
            <p:cNvPr id="234" name="Google Shape;234;p7"/>
            <p:cNvSpPr/>
            <p:nvPr/>
          </p:nvSpPr>
          <p:spPr>
            <a:xfrm>
              <a:off x="8191500" y="1714500"/>
              <a:ext cx="3429000" cy="1047900"/>
            </a:xfrm>
            <a:prstGeom prst="roundRect">
              <a:avLst>
                <a:gd fmla="val 10909" name="adj"/>
              </a:avLst>
            </a:prstGeom>
            <a:solidFill>
              <a:srgbClr val="F3F7FA"/>
            </a:solidFill>
            <a:ln cap="flat" cmpd="sng" w="14300">
              <a:solidFill>
                <a:srgbClr val="1667A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7"/>
            <p:cNvSpPr txBox="1"/>
            <p:nvPr/>
          </p:nvSpPr>
          <p:spPr>
            <a:xfrm>
              <a:off x="8382000" y="1714500"/>
              <a:ext cx="3048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1667A8"/>
                  </a:solidFill>
                  <a:latin typeface="Arial"/>
                  <a:ea typeface="Arial"/>
                  <a:cs typeface="Arial"/>
                  <a:sym typeface="Arial"/>
                </a:rPr>
                <a:t>3 / 3</a:t>
              </a:r>
              <a:r>
                <a:rPr lang="en-US"/>
                <a:t> </a:t>
              </a:r>
              <a:r>
                <a:rPr b="1" lang="en-US" sz="1100">
                  <a:solidFill>
                    <a:srgbClr val="0B2341"/>
                  </a:solidFill>
                  <a:latin typeface="Arial"/>
                  <a:ea typeface="Arial"/>
                  <a:cs typeface="Arial"/>
                  <a:sym typeface="Arial"/>
                </a:rPr>
                <a:t>navigation modes</a:t>
              </a:r>
              <a:br>
                <a:rPr b="1" lang="en-US" sz="1100">
                  <a:solidFill>
                    <a:srgbClr val="0B2341"/>
                  </a:solidFill>
                  <a:latin typeface="Arial"/>
                  <a:ea typeface="Arial"/>
                  <a:cs typeface="Arial"/>
                  <a:sym typeface="Arial"/>
                </a:rPr>
              </a:br>
              <a:r>
                <a:rPr b="1" lang="en-US" sz="1100">
                  <a:solidFill>
                    <a:srgbClr val="0B2341"/>
                  </a:solidFill>
                  <a:latin typeface="Arial"/>
                  <a:ea typeface="Arial"/>
                  <a:cs typeface="Arial"/>
                  <a:sym typeface="Arial"/>
                </a:rPr>
                <a:t>completed</a:t>
              </a:r>
              <a:endParaRPr/>
            </a:p>
          </p:txBody>
        </p:sp>
        <p:sp>
          <p:nvSpPr>
            <p:cNvPr id="236" name="Google Shape;236;p7"/>
            <p:cNvSpPr/>
            <p:nvPr/>
          </p:nvSpPr>
          <p:spPr>
            <a:xfrm>
              <a:off x="8191500" y="2905125"/>
              <a:ext cx="3429000" cy="1047900"/>
            </a:xfrm>
            <a:prstGeom prst="roundRect">
              <a:avLst>
                <a:gd fmla="val 10909" name="adj"/>
              </a:avLst>
            </a:prstGeom>
            <a:solidFill>
              <a:srgbClr val="DFF1EB"/>
            </a:solidFill>
            <a:ln cap="flat" cmpd="sng" w="14300">
              <a:solidFill>
                <a:srgbClr val="2B8A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7"/>
            <p:cNvSpPr txBox="1"/>
            <p:nvPr/>
          </p:nvSpPr>
          <p:spPr>
            <a:xfrm>
              <a:off x="8382000" y="2905125"/>
              <a:ext cx="30480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2B8A6E"/>
                  </a:solidFill>
                  <a:latin typeface="Arial"/>
                  <a:ea typeface="Arial"/>
                  <a:cs typeface="Arial"/>
                  <a:sym typeface="Arial"/>
                </a:rPr>
                <a:t>&lt; 40ms</a:t>
              </a:r>
              <a:r>
                <a:rPr lang="en-US"/>
                <a:t> </a:t>
              </a:r>
              <a:r>
                <a:rPr b="1" lang="en-US" sz="1100">
                  <a:solidFill>
                    <a:srgbClr val="0B2341"/>
                  </a:solidFill>
                  <a:latin typeface="Arial"/>
                  <a:ea typeface="Arial"/>
                  <a:cs typeface="Arial"/>
                  <a:sym typeface="Arial"/>
                </a:rPr>
                <a:t>planner compute</a:t>
              </a:r>
              <a:br>
                <a:rPr b="1" lang="en-US" sz="1100">
                  <a:solidFill>
                    <a:srgbClr val="0B2341"/>
                  </a:solidFill>
                  <a:latin typeface="Arial"/>
                  <a:ea typeface="Arial"/>
                  <a:cs typeface="Arial"/>
                  <a:sym typeface="Arial"/>
                </a:rPr>
              </a:br>
              <a:r>
                <a:rPr b="1" lang="en-US" sz="1100">
                  <a:solidFill>
                    <a:srgbClr val="0B2341"/>
                  </a:solidFill>
                  <a:latin typeface="Arial"/>
                  <a:ea typeface="Arial"/>
                  <a:cs typeface="Arial"/>
                  <a:sym typeface="Arial"/>
                </a:rPr>
                <a:t>time p95</a:t>
              </a:r>
              <a:endParaRPr/>
            </a:p>
          </p:txBody>
        </p:sp>
        <p:sp>
          <p:nvSpPr>
            <p:cNvPr id="238" name="Google Shape;238;p7"/>
            <p:cNvSpPr/>
            <p:nvPr/>
          </p:nvSpPr>
          <p:spPr>
            <a:xfrm>
              <a:off x="8191500" y="4095750"/>
              <a:ext cx="3429000" cy="1666800"/>
            </a:xfrm>
            <a:prstGeom prst="roundRect">
              <a:avLst>
                <a:gd fmla="val 6857" name="adj"/>
              </a:avLst>
            </a:prstGeom>
            <a:solidFill>
              <a:srgbClr val="F9E9DA"/>
            </a:solidFill>
            <a:ln cap="flat" cmpd="sng" w="14300">
              <a:solidFill>
                <a:srgbClr val="D97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7"/>
            <p:cNvSpPr txBox="1"/>
            <p:nvPr/>
          </p:nvSpPr>
          <p:spPr>
            <a:xfrm>
              <a:off x="8382000" y="4238625"/>
              <a:ext cx="3048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D9772A"/>
                  </a:solidFill>
                  <a:latin typeface="Arial"/>
                  <a:ea typeface="Arial"/>
                  <a:cs typeface="Arial"/>
                  <a:sym typeface="Arial"/>
                </a:rPr>
                <a:t>Main gap</a:t>
              </a:r>
              <a:endParaRPr b="1" sz="1800">
                <a:solidFill>
                  <a:srgbClr val="D9772A"/>
                </a:solidFill>
                <a:latin typeface="Arial"/>
                <a:ea typeface="Arial"/>
                <a:cs typeface="Arial"/>
                <a:sym typeface="Arial"/>
              </a:endParaRPr>
            </a:p>
            <a:p>
              <a:pPr indent="0" lvl="0" marL="0" rtl="0" algn="l">
                <a:spcBef>
                  <a:spcPts val="600"/>
                </a:spcBef>
                <a:spcAft>
                  <a:spcPts val="0"/>
                </a:spcAft>
                <a:buNone/>
              </a:pPr>
              <a:r>
                <a:rPr b="1" lang="en-US" sz="1100">
                  <a:solidFill>
                    <a:srgbClr val="0B2341"/>
                  </a:solidFill>
                  <a:latin typeface="Arial"/>
                  <a:ea typeface="Arial"/>
                  <a:cs typeface="Arial"/>
                  <a:sym typeface="Arial"/>
                </a:rPr>
                <a:t>Physical execution effects:</a:t>
              </a:r>
              <a:endParaRPr b="1" sz="1100">
                <a:solidFill>
                  <a:srgbClr val="0B2341"/>
                </a:solidFill>
                <a:latin typeface="Arial"/>
                <a:ea typeface="Arial"/>
                <a:cs typeface="Arial"/>
                <a:sym typeface="Arial"/>
              </a:endParaRPr>
            </a:p>
            <a:p>
              <a:pPr indent="-292100" lvl="0" marL="457200" rtl="0" algn="l">
                <a:spcBef>
                  <a:spcPts val="900"/>
                </a:spcBef>
                <a:spcAft>
                  <a:spcPts val="0"/>
                </a:spcAft>
                <a:buClr>
                  <a:srgbClr val="D9772A"/>
                </a:buClr>
                <a:buSzPts val="1000"/>
                <a:buFont typeface="Arial"/>
                <a:buChar char="●"/>
              </a:pPr>
              <a:r>
                <a:rPr b="1" lang="en-US" sz="1000">
                  <a:solidFill>
                    <a:srgbClr val="D9772A"/>
                  </a:solidFill>
                  <a:latin typeface="Arial"/>
                  <a:ea typeface="Arial"/>
                  <a:cs typeface="Arial"/>
                  <a:sym typeface="Arial"/>
                </a:rPr>
                <a:t>slippage</a:t>
              </a:r>
              <a:endParaRPr b="1" sz="1000">
                <a:solidFill>
                  <a:srgbClr val="D9772A"/>
                </a:solidFill>
                <a:latin typeface="Arial"/>
                <a:ea typeface="Arial"/>
                <a:cs typeface="Arial"/>
                <a:sym typeface="Arial"/>
              </a:endParaRPr>
            </a:p>
            <a:p>
              <a:pPr indent="-292100" lvl="0" marL="457200" rtl="0" algn="l">
                <a:spcBef>
                  <a:spcPts val="300"/>
                </a:spcBef>
                <a:spcAft>
                  <a:spcPts val="0"/>
                </a:spcAft>
                <a:buClr>
                  <a:srgbClr val="D9772A"/>
                </a:buClr>
                <a:buSzPts val="1000"/>
                <a:buFont typeface="Arial"/>
                <a:buChar char="●"/>
              </a:pPr>
              <a:r>
                <a:rPr b="1" lang="en-US" sz="1000">
                  <a:solidFill>
                    <a:srgbClr val="D9772A"/>
                  </a:solidFill>
                  <a:latin typeface="Arial"/>
                  <a:ea typeface="Arial"/>
                  <a:cs typeface="Arial"/>
                  <a:sym typeface="Arial"/>
                </a:rPr>
                <a:t>heading dynamics</a:t>
              </a:r>
              <a:endParaRPr b="1" sz="1000">
                <a:solidFill>
                  <a:srgbClr val="D9772A"/>
                </a:solidFill>
                <a:latin typeface="Arial"/>
                <a:ea typeface="Arial"/>
                <a:cs typeface="Arial"/>
                <a:sym typeface="Arial"/>
              </a:endParaRPr>
            </a:p>
            <a:p>
              <a:pPr indent="-292100" lvl="0" marL="457200" rtl="0" algn="l">
                <a:spcBef>
                  <a:spcPts val="300"/>
                </a:spcBef>
                <a:spcAft>
                  <a:spcPts val="0"/>
                </a:spcAft>
                <a:buClr>
                  <a:srgbClr val="D9772A"/>
                </a:buClr>
                <a:buSzPts val="1000"/>
                <a:buFont typeface="Arial"/>
                <a:buChar char="●"/>
              </a:pPr>
              <a:r>
                <a:rPr b="1" lang="en-US" sz="1000">
                  <a:solidFill>
                    <a:srgbClr val="D9772A"/>
                  </a:solidFill>
                  <a:latin typeface="Arial"/>
                  <a:ea typeface="Arial"/>
                  <a:cs typeface="Arial"/>
                  <a:sym typeface="Arial"/>
                </a:rPr>
                <a:t>recovery motion</a:t>
              </a:r>
              <a:endParaRPr b="1" sz="1000">
                <a:solidFill>
                  <a:srgbClr val="D9772A"/>
                </a:solidFill>
                <a:latin typeface="Arial"/>
                <a:ea typeface="Arial"/>
                <a:cs typeface="Arial"/>
                <a:sym typeface="Arial"/>
              </a:endParaRPr>
            </a:p>
          </p:txBody>
        </p:sp>
      </p:grpSp>
      <p:sp>
        <p:nvSpPr>
          <p:cNvPr id="240" name="Google Shape;240;p7"/>
          <p:cNvSpPr/>
          <p:nvPr/>
        </p:nvSpPr>
        <p:spPr>
          <a:xfrm>
            <a:off x="571500" y="6286500"/>
            <a:ext cx="4160400" cy="190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800">
                <a:solidFill>
                  <a:srgbClr val="53677A"/>
                </a:solidFill>
                <a:latin typeface="Arial"/>
                <a:ea typeface="Arial"/>
                <a:cs typeface="Arial"/>
                <a:sym typeface="Arial"/>
              </a:rPr>
              <a:t>THESIS DATA • TRACKING · PATH EFFICIENCY · DURATION · COMPUTE TIME</a:t>
            </a:r>
            <a:endParaRPr b="1" sz="800">
              <a:solidFill>
                <a:srgbClr val="53677A"/>
              </a:solidFill>
              <a:latin typeface="Arial"/>
              <a:ea typeface="Arial"/>
              <a:cs typeface="Arial"/>
              <a:sym typeface="Arial"/>
            </a:endParaRPr>
          </a:p>
        </p:txBody>
      </p:sp>
      <p:grpSp>
        <p:nvGrpSpPr>
          <p:cNvPr id="241" name="Google Shape;241;p7"/>
          <p:cNvGrpSpPr/>
          <p:nvPr/>
        </p:nvGrpSpPr>
        <p:grpSpPr>
          <a:xfrm>
            <a:off x="8191500" y="6096000"/>
            <a:ext cx="3429000" cy="381000"/>
            <a:chOff x="8191500" y="6096000"/>
            <a:chExt cx="3429000" cy="381000"/>
          </a:xfrm>
        </p:grpSpPr>
        <p:sp>
          <p:nvSpPr>
            <p:cNvPr id="242" name="Google Shape;242;p7"/>
            <p:cNvSpPr/>
            <p:nvPr/>
          </p:nvSpPr>
          <p:spPr>
            <a:xfrm>
              <a:off x="8191500" y="6096000"/>
              <a:ext cx="3429000" cy="381000"/>
            </a:xfrm>
            <a:prstGeom prst="roundRect">
              <a:avLst>
                <a:gd fmla="val 20000" name="adj"/>
              </a:avLst>
            </a:prstGeom>
            <a:solidFill>
              <a:srgbClr val="F3F7F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7"/>
            <p:cNvSpPr txBox="1"/>
            <p:nvPr/>
          </p:nvSpPr>
          <p:spPr>
            <a:xfrm>
              <a:off x="8191500" y="6096000"/>
              <a:ext cx="3429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100">
                  <a:solidFill>
                    <a:srgbClr val="1667A8"/>
                  </a:solidFill>
                  <a:latin typeface="Arial"/>
                  <a:ea typeface="Arial"/>
                  <a:cs typeface="Arial"/>
                  <a:sym typeface="Arial"/>
                </a:rPr>
                <a:t>Evidence first • summary second</a:t>
              </a:r>
              <a:endParaRPr b="1" sz="1100">
                <a:solidFill>
                  <a:srgbClr val="1667A8"/>
                </a:solidFill>
                <a:latin typeface="Arial"/>
                <a:ea typeface="Arial"/>
                <a:cs typeface="Arial"/>
                <a:sym typeface="Arial"/>
              </a:endParaRPr>
            </a:p>
          </p:txBody>
        </p:sp>
      </p:grpSp>
      <p:sp>
        <p:nvSpPr>
          <p:cNvPr id="244" name="Google Shape;244;p7"/>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9" name="Shape 249"/>
        <p:cNvGrpSpPr/>
        <p:nvPr/>
      </p:nvGrpSpPr>
      <p:grpSpPr>
        <a:xfrm>
          <a:off x="0" y="0"/>
          <a:ext cx="0" cy="0"/>
          <a:chOff x="0" y="0"/>
          <a:chExt cx="0" cy="0"/>
        </a:xfrm>
      </p:grpSpPr>
      <p:cxnSp>
        <p:nvCxnSpPr>
          <p:cNvPr id="250" name="Google Shape;250;p8"/>
          <p:cNvCxnSpPr/>
          <p:nvPr/>
        </p:nvCxnSpPr>
        <p:spPr>
          <a:xfrm>
            <a:off x="502920" y="228600"/>
            <a:ext cx="11183100" cy="0"/>
          </a:xfrm>
          <a:prstGeom prst="straightConnector1">
            <a:avLst/>
          </a:prstGeom>
          <a:noFill/>
          <a:ln cap="flat" cmpd="sng" w="10150">
            <a:solidFill>
              <a:srgbClr val="DCE5EE"/>
            </a:solidFill>
            <a:prstDash val="solid"/>
            <a:round/>
            <a:headEnd len="sm" w="sm" type="none"/>
            <a:tailEnd len="sm" w="sm" type="none"/>
          </a:ln>
        </p:spPr>
      </p:cxnSp>
      <p:sp>
        <p:nvSpPr>
          <p:cNvPr id="251" name="Google Shape;251;p8"/>
          <p:cNvSpPr/>
          <p:nvPr/>
        </p:nvSpPr>
        <p:spPr>
          <a:xfrm>
            <a:off x="571500" y="1714500"/>
            <a:ext cx="11049000" cy="3238500"/>
          </a:xfrm>
          <a:prstGeom prst="roundRect">
            <a:avLst>
              <a:gd fmla="val 3529" name="adj"/>
            </a:avLst>
          </a:prstGeom>
          <a:solidFill>
            <a:srgbClr val="F3F7FA"/>
          </a:solidFill>
          <a:ln cap="flat" cmpd="sng" w="9525">
            <a:solidFill>
              <a:srgbClr val="DCE5E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8"/>
          <p:cNvSpPr/>
          <p:nvPr/>
        </p:nvSpPr>
        <p:spPr>
          <a:xfrm>
            <a:off x="530352" y="54864"/>
            <a:ext cx="4206300" cy="146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0657A"/>
              </a:buClr>
              <a:buSzPts val="750"/>
              <a:buFont typeface="Arial"/>
              <a:buNone/>
            </a:pPr>
            <a:r>
              <a:rPr b="1" i="0" lang="en-US" sz="750" u="none" cap="none" strike="noStrike">
                <a:solidFill>
                  <a:srgbClr val="50657A"/>
                </a:solidFill>
                <a:latin typeface="Arial"/>
                <a:ea typeface="Arial"/>
                <a:cs typeface="Arial"/>
                <a:sym typeface="Arial"/>
              </a:rPr>
              <a:t>ISMAELE CARBONARI  ·  FBK 3DOM</a:t>
            </a:r>
            <a:endParaRPr b="0" i="0" sz="750" u="none" cap="none" strike="noStrike">
              <a:solidFill>
                <a:schemeClr val="dk1"/>
              </a:solidFill>
              <a:latin typeface="Arial"/>
              <a:ea typeface="Arial"/>
              <a:cs typeface="Arial"/>
              <a:sym typeface="Arial"/>
            </a:endParaRPr>
          </a:p>
        </p:txBody>
      </p:sp>
      <p:sp>
        <p:nvSpPr>
          <p:cNvPr id="253" name="Google Shape;253;p8"/>
          <p:cNvSpPr/>
          <p:nvPr/>
        </p:nvSpPr>
        <p:spPr>
          <a:xfrm>
            <a:off x="571500" y="428625"/>
            <a:ext cx="3474600" cy="2013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000">
                <a:solidFill>
                  <a:srgbClr val="1667A8"/>
                </a:solidFill>
                <a:latin typeface="Arial"/>
                <a:ea typeface="Arial"/>
                <a:cs typeface="Arial"/>
                <a:sym typeface="Arial"/>
              </a:rPr>
              <a:t>PLATFORM PORTABILITY</a:t>
            </a:r>
            <a:endParaRPr b="1" sz="1000">
              <a:solidFill>
                <a:srgbClr val="1667A8"/>
              </a:solidFill>
              <a:latin typeface="Arial"/>
              <a:ea typeface="Arial"/>
              <a:cs typeface="Arial"/>
              <a:sym typeface="Arial"/>
            </a:endParaRPr>
          </a:p>
        </p:txBody>
      </p:sp>
      <p:sp>
        <p:nvSpPr>
          <p:cNvPr id="254" name="Google Shape;254;p8"/>
          <p:cNvSpPr/>
          <p:nvPr/>
        </p:nvSpPr>
        <p:spPr>
          <a:xfrm>
            <a:off x="571500" y="666750"/>
            <a:ext cx="108813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1" lang="en-US" sz="3200">
                <a:solidFill>
                  <a:srgbClr val="0B2341"/>
                </a:solidFill>
                <a:latin typeface="Arial"/>
                <a:ea typeface="Arial"/>
                <a:cs typeface="Arial"/>
                <a:sym typeface="Arial"/>
              </a:rPr>
              <a:t>From robot car to tracked robot</a:t>
            </a:r>
            <a:endParaRPr b="1" sz="3200">
              <a:solidFill>
                <a:srgbClr val="0B2341"/>
              </a:solidFill>
              <a:latin typeface="Arial"/>
              <a:ea typeface="Arial"/>
              <a:cs typeface="Arial"/>
              <a:sym typeface="Arial"/>
            </a:endParaRPr>
          </a:p>
        </p:txBody>
      </p:sp>
      <p:sp>
        <p:nvSpPr>
          <p:cNvPr id="255" name="Google Shape;255;p8"/>
          <p:cNvSpPr/>
          <p:nvPr/>
        </p:nvSpPr>
        <p:spPr>
          <a:xfrm>
            <a:off x="571500" y="1238250"/>
            <a:ext cx="10607100" cy="3108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300">
                <a:solidFill>
                  <a:srgbClr val="53677A"/>
                </a:solidFill>
                <a:latin typeface="Arial"/>
                <a:ea typeface="Arial"/>
                <a:cs typeface="Arial"/>
                <a:sym typeface="Arial"/>
              </a:rPr>
              <a:t>Portability was tested by changing the locomotion model and hardware interface, not the high-level planner.</a:t>
            </a:r>
            <a:endParaRPr b="0" sz="1300">
              <a:solidFill>
                <a:srgbClr val="53677A"/>
              </a:solidFill>
              <a:latin typeface="Arial"/>
              <a:ea typeface="Arial"/>
              <a:cs typeface="Arial"/>
              <a:sym typeface="Arial"/>
            </a:endParaRPr>
          </a:p>
        </p:txBody>
      </p:sp>
      <p:pic>
        <p:nvPicPr>
          <p:cNvPr id="256" name="Google Shape;256;p8"/>
          <p:cNvPicPr preferRelativeResize="0"/>
          <p:nvPr/>
        </p:nvPicPr>
        <p:blipFill rotWithShape="1">
          <a:blip r:embed="rId4">
            <a:alphaModFix/>
          </a:blip>
          <a:srcRect b="0" l="0" r="0" t="0"/>
          <a:stretch/>
        </p:blipFill>
        <p:spPr>
          <a:xfrm>
            <a:off x="952500" y="2000250"/>
            <a:ext cx="2667000" cy="2286000"/>
          </a:xfrm>
          <a:prstGeom prst="rect">
            <a:avLst/>
          </a:prstGeom>
          <a:noFill/>
          <a:ln>
            <a:noFill/>
          </a:ln>
        </p:spPr>
      </p:pic>
      <p:pic>
        <p:nvPicPr>
          <p:cNvPr id="257" name="Google Shape;257;p8"/>
          <p:cNvPicPr preferRelativeResize="0"/>
          <p:nvPr/>
        </p:nvPicPr>
        <p:blipFill rotWithShape="1">
          <a:blip r:embed="rId5">
            <a:alphaModFix/>
          </a:blip>
          <a:srcRect b="0" l="0" r="0" t="0"/>
          <a:stretch/>
        </p:blipFill>
        <p:spPr>
          <a:xfrm>
            <a:off x="8572500" y="2000250"/>
            <a:ext cx="2667000" cy="2286000"/>
          </a:xfrm>
          <a:prstGeom prst="rect">
            <a:avLst/>
          </a:prstGeom>
          <a:noFill/>
          <a:ln>
            <a:noFill/>
          </a:ln>
        </p:spPr>
      </p:pic>
      <p:sp>
        <p:nvSpPr>
          <p:cNvPr id="258" name="Google Shape;258;p8"/>
          <p:cNvSpPr/>
          <p:nvPr/>
        </p:nvSpPr>
        <p:spPr>
          <a:xfrm>
            <a:off x="952500" y="4381500"/>
            <a:ext cx="26670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100">
                <a:solidFill>
                  <a:srgbClr val="1667A8"/>
                </a:solidFill>
                <a:latin typeface="Arial"/>
                <a:ea typeface="Arial"/>
                <a:cs typeface="Arial"/>
                <a:sym typeface="Arial"/>
              </a:rPr>
              <a:t>ROBOT CAR</a:t>
            </a:r>
            <a:endParaRPr b="1" sz="1100">
              <a:solidFill>
                <a:srgbClr val="1667A8"/>
              </a:solidFill>
              <a:latin typeface="Arial"/>
              <a:ea typeface="Arial"/>
              <a:cs typeface="Arial"/>
              <a:sym typeface="Arial"/>
            </a:endParaRPr>
          </a:p>
        </p:txBody>
      </p:sp>
      <p:sp>
        <p:nvSpPr>
          <p:cNvPr id="259" name="Google Shape;259;p8"/>
          <p:cNvSpPr/>
          <p:nvPr/>
        </p:nvSpPr>
        <p:spPr>
          <a:xfrm>
            <a:off x="8572500" y="4381500"/>
            <a:ext cx="26670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100">
                <a:solidFill>
                  <a:srgbClr val="D9772A"/>
                </a:solidFill>
                <a:latin typeface="Arial"/>
                <a:ea typeface="Arial"/>
                <a:cs typeface="Arial"/>
                <a:sym typeface="Arial"/>
              </a:rPr>
              <a:t>TRACKED ROBOT</a:t>
            </a:r>
            <a:endParaRPr b="1" sz="1100">
              <a:solidFill>
                <a:srgbClr val="D9772A"/>
              </a:solidFill>
              <a:latin typeface="Arial"/>
              <a:ea typeface="Arial"/>
              <a:cs typeface="Arial"/>
              <a:sym typeface="Arial"/>
            </a:endParaRPr>
          </a:p>
        </p:txBody>
      </p:sp>
      <p:sp>
        <p:nvSpPr>
          <p:cNvPr id="260" name="Google Shape;260;p8"/>
          <p:cNvSpPr/>
          <p:nvPr/>
        </p:nvSpPr>
        <p:spPr>
          <a:xfrm>
            <a:off x="3905250" y="2000250"/>
            <a:ext cx="4381500" cy="1238400"/>
          </a:xfrm>
          <a:prstGeom prst="roundRect">
            <a:avLst>
              <a:gd fmla="val 7692" name="adj"/>
            </a:avLst>
          </a:prstGeom>
          <a:solidFill>
            <a:srgbClr val="DFF1EB"/>
          </a:solidFill>
          <a:ln cap="flat" cmpd="sng" w="14300">
            <a:solidFill>
              <a:srgbClr val="2B8A6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8"/>
          <p:cNvSpPr/>
          <p:nvPr/>
        </p:nvSpPr>
        <p:spPr>
          <a:xfrm>
            <a:off x="4191000" y="2143125"/>
            <a:ext cx="3810000" cy="2382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000">
                <a:solidFill>
                  <a:srgbClr val="2B8A6E"/>
                </a:solidFill>
                <a:latin typeface="Arial"/>
                <a:ea typeface="Arial"/>
                <a:cs typeface="Arial"/>
                <a:sym typeface="Arial"/>
              </a:rPr>
              <a:t>UNCHANGED</a:t>
            </a:r>
            <a:endParaRPr b="1" sz="1000">
              <a:solidFill>
                <a:srgbClr val="2B8A6E"/>
              </a:solidFill>
              <a:latin typeface="Arial"/>
              <a:ea typeface="Arial"/>
              <a:cs typeface="Arial"/>
              <a:sym typeface="Arial"/>
            </a:endParaRPr>
          </a:p>
        </p:txBody>
      </p:sp>
      <p:sp>
        <p:nvSpPr>
          <p:cNvPr id="262" name="Google Shape;262;p8"/>
          <p:cNvSpPr/>
          <p:nvPr/>
        </p:nvSpPr>
        <p:spPr>
          <a:xfrm>
            <a:off x="4191000" y="2476500"/>
            <a:ext cx="3810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0B2341"/>
                </a:solidFill>
                <a:latin typeface="Arial"/>
                <a:ea typeface="Arial"/>
                <a:cs typeface="Arial"/>
                <a:sym typeface="Arial"/>
              </a:rPr>
              <a:t>Planner · Gate Selection</a:t>
            </a:r>
            <a:br>
              <a:rPr b="1" lang="en-US" sz="1300">
                <a:solidFill>
                  <a:srgbClr val="0B2341"/>
                </a:solidFill>
                <a:latin typeface="Arial"/>
                <a:ea typeface="Arial"/>
                <a:cs typeface="Arial"/>
                <a:sym typeface="Arial"/>
              </a:rPr>
            </a:br>
            <a:r>
              <a:rPr b="1" lang="en-US" sz="1300">
                <a:solidFill>
                  <a:srgbClr val="0B2341"/>
                </a:solidFill>
                <a:latin typeface="Arial"/>
                <a:ea typeface="Arial"/>
                <a:cs typeface="Arial"/>
                <a:sym typeface="Arial"/>
              </a:rPr>
              <a:t>Validation Pipeline</a:t>
            </a:r>
            <a:endParaRPr b="1" sz="1300">
              <a:solidFill>
                <a:srgbClr val="0B2341"/>
              </a:solidFill>
              <a:latin typeface="Arial"/>
              <a:ea typeface="Arial"/>
              <a:cs typeface="Arial"/>
              <a:sym typeface="Arial"/>
            </a:endParaRPr>
          </a:p>
        </p:txBody>
      </p:sp>
      <p:sp>
        <p:nvSpPr>
          <p:cNvPr id="263" name="Google Shape;263;p8"/>
          <p:cNvSpPr/>
          <p:nvPr/>
        </p:nvSpPr>
        <p:spPr>
          <a:xfrm>
            <a:off x="3905250" y="3429000"/>
            <a:ext cx="4381500" cy="1238400"/>
          </a:xfrm>
          <a:prstGeom prst="roundRect">
            <a:avLst>
              <a:gd fmla="val 7692" name="adj"/>
            </a:avLst>
          </a:prstGeom>
          <a:solidFill>
            <a:srgbClr val="F9E9DA"/>
          </a:solidFill>
          <a:ln cap="flat" cmpd="sng" w="14300">
            <a:solidFill>
              <a:srgbClr val="D9772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4" name="Google Shape;264;p8"/>
          <p:cNvSpPr/>
          <p:nvPr/>
        </p:nvSpPr>
        <p:spPr>
          <a:xfrm>
            <a:off x="4191000" y="3571875"/>
            <a:ext cx="3810000" cy="2382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000">
                <a:solidFill>
                  <a:srgbClr val="D9772A"/>
                </a:solidFill>
                <a:latin typeface="Arial"/>
                <a:ea typeface="Arial"/>
                <a:cs typeface="Arial"/>
                <a:sym typeface="Arial"/>
              </a:rPr>
              <a:t>CHANGED</a:t>
            </a:r>
            <a:endParaRPr b="1" sz="1000">
              <a:solidFill>
                <a:srgbClr val="D9772A"/>
              </a:solidFill>
              <a:latin typeface="Arial"/>
              <a:ea typeface="Arial"/>
              <a:cs typeface="Arial"/>
              <a:sym typeface="Arial"/>
            </a:endParaRPr>
          </a:p>
        </p:txBody>
      </p:sp>
      <p:sp>
        <p:nvSpPr>
          <p:cNvPr id="265" name="Google Shape;265;p8"/>
          <p:cNvSpPr/>
          <p:nvPr/>
        </p:nvSpPr>
        <p:spPr>
          <a:xfrm>
            <a:off x="4191000" y="3905250"/>
            <a:ext cx="38100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0B2341"/>
                </a:solidFill>
                <a:latin typeface="Arial"/>
                <a:ea typeface="Arial"/>
                <a:cs typeface="Arial"/>
                <a:sym typeface="Arial"/>
              </a:rPr>
              <a:t>Vehicle Kinematics · Actuation Mapping</a:t>
            </a:r>
            <a:br>
              <a:rPr b="1" lang="en-US" sz="1300">
                <a:solidFill>
                  <a:srgbClr val="0B2341"/>
                </a:solidFill>
                <a:latin typeface="Arial"/>
                <a:ea typeface="Arial"/>
                <a:cs typeface="Arial"/>
                <a:sym typeface="Arial"/>
              </a:rPr>
            </a:br>
            <a:r>
              <a:rPr b="1" lang="en-US" sz="1300">
                <a:solidFill>
                  <a:srgbClr val="0B2341"/>
                </a:solidFill>
                <a:latin typeface="Arial"/>
                <a:ea typeface="Arial"/>
                <a:cs typeface="Arial"/>
                <a:sym typeface="Arial"/>
              </a:rPr>
              <a:t>Hardware Interface</a:t>
            </a:r>
            <a:endParaRPr b="1" sz="1300">
              <a:solidFill>
                <a:srgbClr val="0B2341"/>
              </a:solidFill>
              <a:latin typeface="Arial"/>
              <a:ea typeface="Arial"/>
              <a:cs typeface="Arial"/>
              <a:sym typeface="Arial"/>
            </a:endParaRPr>
          </a:p>
        </p:txBody>
      </p:sp>
      <p:sp>
        <p:nvSpPr>
          <p:cNvPr id="266" name="Google Shape;266;p8"/>
          <p:cNvSpPr/>
          <p:nvPr/>
        </p:nvSpPr>
        <p:spPr>
          <a:xfrm>
            <a:off x="571500" y="5334000"/>
            <a:ext cx="11049000" cy="438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2400">
                <a:solidFill>
                  <a:srgbClr val="0B2341"/>
                </a:solidFill>
                <a:latin typeface="Arial"/>
                <a:ea typeface="Arial"/>
                <a:cs typeface="Arial"/>
                <a:sym typeface="Arial"/>
              </a:rPr>
              <a:t>The framework changed less than the robot.</a:t>
            </a:r>
            <a:endParaRPr b="1" sz="2400">
              <a:solidFill>
                <a:srgbClr val="0B2341"/>
              </a:solidFill>
              <a:latin typeface="Arial"/>
              <a:ea typeface="Arial"/>
              <a:cs typeface="Arial"/>
              <a:sym typeface="Arial"/>
            </a:endParaRPr>
          </a:p>
        </p:txBody>
      </p:sp>
      <p:sp>
        <p:nvSpPr>
          <p:cNvPr id="267" name="Google Shape;267;p8"/>
          <p:cNvSpPr/>
          <p:nvPr/>
        </p:nvSpPr>
        <p:spPr>
          <a:xfrm>
            <a:off x="571500" y="5810250"/>
            <a:ext cx="11049000" cy="29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400">
                <a:solidFill>
                  <a:srgbClr val="1667A8"/>
                </a:solidFill>
                <a:latin typeface="Arial"/>
                <a:ea typeface="Arial"/>
                <a:cs typeface="Arial"/>
                <a:sym typeface="Arial"/>
              </a:rPr>
              <a:t>High-level navigation remained stable; embodiment-specific interfaces were replaced.</a:t>
            </a:r>
            <a:endParaRPr b="1" sz="1400">
              <a:solidFill>
                <a:srgbClr val="1667A8"/>
              </a:solidFill>
              <a:latin typeface="Arial"/>
              <a:ea typeface="Arial"/>
              <a:cs typeface="Arial"/>
              <a:sym typeface="Arial"/>
            </a:endParaRPr>
          </a:p>
        </p:txBody>
      </p:sp>
      <p:sp>
        <p:nvSpPr>
          <p:cNvPr id="268" name="Google Shape;268;p8"/>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9"/>
          <p:cNvSpPr/>
          <p:nvPr/>
        </p:nvSpPr>
        <p:spPr>
          <a:xfrm>
            <a:off x="566928" y="393192"/>
            <a:ext cx="3474720" cy="2011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850"/>
              <a:buFont typeface="Arial"/>
              <a:buNone/>
            </a:pPr>
            <a:r>
              <a:rPr b="1" i="0" lang="en-US" sz="850" u="none" cap="none" strike="noStrike">
                <a:solidFill>
                  <a:srgbClr val="1667A8"/>
                </a:solidFill>
                <a:latin typeface="Arial"/>
                <a:ea typeface="Arial"/>
                <a:cs typeface="Arial"/>
                <a:sym typeface="Arial"/>
              </a:rPr>
              <a:t>CONNECTION TO 3DOM</a:t>
            </a:r>
            <a:endParaRPr b="0" i="0" sz="850" u="none" cap="none" strike="noStrike">
              <a:solidFill>
                <a:schemeClr val="dk1"/>
              </a:solidFill>
              <a:latin typeface="Arial"/>
              <a:ea typeface="Arial"/>
              <a:cs typeface="Arial"/>
              <a:sym typeface="Arial"/>
            </a:endParaRPr>
          </a:p>
        </p:txBody>
      </p:sp>
      <p:sp>
        <p:nvSpPr>
          <p:cNvPr id="275" name="Google Shape;275;p9"/>
          <p:cNvSpPr/>
          <p:nvPr/>
        </p:nvSpPr>
        <p:spPr>
          <a:xfrm>
            <a:off x="566928" y="630936"/>
            <a:ext cx="10881360" cy="475488"/>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B2341"/>
              </a:buClr>
              <a:buSzPts val="2700"/>
              <a:buFont typeface="Arial"/>
              <a:buNone/>
            </a:pPr>
            <a:r>
              <a:rPr b="1" i="0" lang="en-US" sz="2700" u="none" cap="none" strike="noStrike">
                <a:solidFill>
                  <a:srgbClr val="0B2341"/>
                </a:solidFill>
                <a:latin typeface="Arial"/>
                <a:ea typeface="Arial"/>
                <a:cs typeface="Arial"/>
                <a:sym typeface="Arial"/>
              </a:rPr>
              <a:t>A shared focus on autonomy that must work in the field</a:t>
            </a:r>
            <a:endParaRPr b="0" i="0" sz="2700" u="none" cap="none" strike="noStrike">
              <a:solidFill>
                <a:schemeClr val="dk1"/>
              </a:solidFill>
              <a:latin typeface="Arial"/>
              <a:ea typeface="Arial"/>
              <a:cs typeface="Arial"/>
              <a:sym typeface="Arial"/>
            </a:endParaRPr>
          </a:p>
        </p:txBody>
      </p:sp>
      <p:sp>
        <p:nvSpPr>
          <p:cNvPr id="276" name="Google Shape;276;p9"/>
          <p:cNvSpPr/>
          <p:nvPr/>
        </p:nvSpPr>
        <p:spPr>
          <a:xfrm>
            <a:off x="585216" y="1069848"/>
            <a:ext cx="10607040" cy="310896"/>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53677A"/>
              </a:buClr>
              <a:buSzPts val="1150"/>
              <a:buFont typeface="Arial"/>
              <a:buNone/>
            </a:pPr>
            <a:r>
              <a:rPr b="0" i="0" lang="en-US" sz="1150" u="none" cap="none" strike="noStrike">
                <a:solidFill>
                  <a:srgbClr val="53677A"/>
                </a:solidFill>
                <a:latin typeface="Arial"/>
                <a:ea typeface="Arial"/>
                <a:cs typeface="Arial"/>
                <a:sym typeface="Arial"/>
              </a:rPr>
              <a:t>My current framework addresses navigation transfer; 3DOM adds richer perception, mapping and operational environments.</a:t>
            </a:r>
            <a:endParaRPr b="0" i="0" sz="1150" u="none" cap="none" strike="noStrike">
              <a:solidFill>
                <a:schemeClr val="dk1"/>
              </a:solidFill>
              <a:latin typeface="Arial"/>
              <a:ea typeface="Arial"/>
              <a:cs typeface="Arial"/>
              <a:sym typeface="Arial"/>
            </a:endParaRPr>
          </a:p>
        </p:txBody>
      </p:sp>
      <p:sp>
        <p:nvSpPr>
          <p:cNvPr id="277" name="Google Shape;277;p9"/>
          <p:cNvSpPr/>
          <p:nvPr/>
        </p:nvSpPr>
        <p:spPr>
          <a:xfrm>
            <a:off x="731520" y="1536192"/>
            <a:ext cx="4023360" cy="27432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667A8"/>
              </a:buClr>
              <a:buSzPts val="1100"/>
              <a:buFont typeface="Arial"/>
              <a:buNone/>
            </a:pPr>
            <a:r>
              <a:rPr b="1" i="0" lang="en-US" sz="1100" u="none" cap="none" strike="noStrike">
                <a:solidFill>
                  <a:srgbClr val="1667A8"/>
                </a:solidFill>
                <a:latin typeface="Arial"/>
                <a:ea typeface="Arial"/>
                <a:cs typeface="Arial"/>
                <a:sym typeface="Arial"/>
              </a:rPr>
              <a:t>MY CURRENT WORK</a:t>
            </a:r>
            <a:endParaRPr b="0" i="0" sz="1100" u="none" cap="none" strike="noStrike">
              <a:solidFill>
                <a:schemeClr val="dk1"/>
              </a:solidFill>
              <a:latin typeface="Arial"/>
              <a:ea typeface="Arial"/>
              <a:cs typeface="Arial"/>
              <a:sym typeface="Arial"/>
            </a:endParaRPr>
          </a:p>
        </p:txBody>
      </p:sp>
      <p:sp>
        <p:nvSpPr>
          <p:cNvPr id="278" name="Google Shape;278;p9"/>
          <p:cNvSpPr/>
          <p:nvPr/>
        </p:nvSpPr>
        <p:spPr>
          <a:xfrm>
            <a:off x="6629400" y="1536192"/>
            <a:ext cx="4754880" cy="274320"/>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D9772A"/>
              </a:buClr>
              <a:buSzPts val="1100"/>
              <a:buFont typeface="Arial"/>
              <a:buNone/>
            </a:pPr>
            <a:r>
              <a:rPr b="1" i="0" lang="en-US" sz="1100" u="none" cap="none" strike="noStrike">
                <a:solidFill>
                  <a:srgbClr val="D9772A"/>
                </a:solidFill>
                <a:latin typeface="Arial"/>
                <a:ea typeface="Arial"/>
                <a:cs typeface="Arial"/>
                <a:sym typeface="Arial"/>
              </a:rPr>
              <a:t>POTENTIAL 3DOM CONNECTION</a:t>
            </a:r>
            <a:endParaRPr b="0" i="0" sz="1100" u="none" cap="none" strike="noStrike">
              <a:solidFill>
                <a:schemeClr val="dk1"/>
              </a:solidFill>
              <a:latin typeface="Arial"/>
              <a:ea typeface="Arial"/>
              <a:cs typeface="Arial"/>
              <a:sym typeface="Arial"/>
            </a:endParaRPr>
          </a:p>
        </p:txBody>
      </p:sp>
      <p:sp>
        <p:nvSpPr>
          <p:cNvPr id="279" name="Google Shape;279;p9"/>
          <p:cNvSpPr/>
          <p:nvPr/>
        </p:nvSpPr>
        <p:spPr>
          <a:xfrm>
            <a:off x="713232" y="1965960"/>
            <a:ext cx="3886200" cy="438912"/>
          </a:xfrm>
          <a:prstGeom prst="roundRect">
            <a:avLst>
              <a:gd fmla="val 12500" name="adj"/>
            </a:avLst>
          </a:prstGeom>
          <a:solidFill>
            <a:srgbClr val="F3F7FA"/>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841248" y="2075688"/>
            <a:ext cx="3630168"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Navigation &amp; state estimation</a:t>
            </a:r>
            <a:endParaRPr b="0" i="0" sz="1220" u="none" cap="none" strike="noStrike">
              <a:solidFill>
                <a:schemeClr val="dk1"/>
              </a:solidFill>
              <a:latin typeface="Arial"/>
              <a:ea typeface="Arial"/>
              <a:cs typeface="Arial"/>
              <a:sym typeface="Arial"/>
            </a:endParaRPr>
          </a:p>
        </p:txBody>
      </p:sp>
      <p:cxnSp>
        <p:nvCxnSpPr>
          <p:cNvPr id="281" name="Google Shape;281;p9"/>
          <p:cNvCxnSpPr/>
          <p:nvPr/>
        </p:nvCxnSpPr>
        <p:spPr>
          <a:xfrm>
            <a:off x="4864608" y="2185416"/>
            <a:ext cx="2423160" cy="0"/>
          </a:xfrm>
          <a:prstGeom prst="straightConnector1">
            <a:avLst/>
          </a:prstGeom>
          <a:noFill/>
          <a:ln cap="flat" cmpd="sng" w="19050">
            <a:solidFill>
              <a:srgbClr val="2C9AB7"/>
            </a:solidFill>
            <a:prstDash val="solid"/>
            <a:round/>
            <a:headEnd len="sm" w="sm" type="none"/>
            <a:tailEnd len="med" w="med" type="triangle"/>
          </a:ln>
        </p:spPr>
      </p:cxnSp>
      <p:sp>
        <p:nvSpPr>
          <p:cNvPr id="282" name="Google Shape;282;p9"/>
          <p:cNvSpPr/>
          <p:nvPr/>
        </p:nvSpPr>
        <p:spPr>
          <a:xfrm>
            <a:off x="7562088" y="1965960"/>
            <a:ext cx="3886200" cy="438912"/>
          </a:xfrm>
          <a:prstGeom prst="roundRect">
            <a:avLst>
              <a:gd fmla="val 12500" name="adj"/>
            </a:avLst>
          </a:prstGeom>
          <a:solidFill>
            <a:srgbClr val="F9E9DA"/>
          </a:solidFill>
          <a:ln cap="flat" cmpd="sng" w="15225">
            <a:solidFill>
              <a:srgbClr val="D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7690104" y="2075688"/>
            <a:ext cx="3630168" cy="21945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GNSS-denied autonomy</a:t>
            </a:r>
            <a:endParaRPr b="0" i="0" sz="1220" u="none" cap="none" strike="noStrike">
              <a:solidFill>
                <a:schemeClr val="dk1"/>
              </a:solidFill>
              <a:latin typeface="Arial"/>
              <a:ea typeface="Arial"/>
              <a:cs typeface="Arial"/>
              <a:sym typeface="Arial"/>
            </a:endParaRPr>
          </a:p>
        </p:txBody>
      </p:sp>
      <p:sp>
        <p:nvSpPr>
          <p:cNvPr id="284" name="Google Shape;284;p9"/>
          <p:cNvSpPr/>
          <p:nvPr/>
        </p:nvSpPr>
        <p:spPr>
          <a:xfrm>
            <a:off x="713232" y="2788920"/>
            <a:ext cx="3886200" cy="438912"/>
          </a:xfrm>
          <a:prstGeom prst="roundRect">
            <a:avLst>
              <a:gd fmla="val 12500" name="adj"/>
            </a:avLst>
          </a:prstGeom>
          <a:solidFill>
            <a:srgbClr val="FFFFFF"/>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841248" y="2898648"/>
            <a:ext cx="3630168"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Mapping foundations</a:t>
            </a:r>
            <a:endParaRPr b="0" i="0" sz="1220" u="none" cap="none" strike="noStrike">
              <a:solidFill>
                <a:schemeClr val="dk1"/>
              </a:solidFill>
              <a:latin typeface="Arial"/>
              <a:ea typeface="Arial"/>
              <a:cs typeface="Arial"/>
              <a:sym typeface="Arial"/>
            </a:endParaRPr>
          </a:p>
        </p:txBody>
      </p:sp>
      <p:cxnSp>
        <p:nvCxnSpPr>
          <p:cNvPr id="286" name="Google Shape;286;p9"/>
          <p:cNvCxnSpPr/>
          <p:nvPr/>
        </p:nvCxnSpPr>
        <p:spPr>
          <a:xfrm>
            <a:off x="4864608" y="3008376"/>
            <a:ext cx="2423160" cy="0"/>
          </a:xfrm>
          <a:prstGeom prst="straightConnector1">
            <a:avLst/>
          </a:prstGeom>
          <a:noFill/>
          <a:ln cap="flat" cmpd="sng" w="19050">
            <a:solidFill>
              <a:srgbClr val="1667A8"/>
            </a:solidFill>
            <a:prstDash val="solid"/>
            <a:round/>
            <a:headEnd len="sm" w="sm" type="none"/>
            <a:tailEnd len="med" w="med" type="triangle"/>
          </a:ln>
        </p:spPr>
      </p:cxnSp>
      <p:sp>
        <p:nvSpPr>
          <p:cNvPr id="287" name="Google Shape;287;p9"/>
          <p:cNvSpPr/>
          <p:nvPr/>
        </p:nvSpPr>
        <p:spPr>
          <a:xfrm>
            <a:off x="7562088" y="2788920"/>
            <a:ext cx="3886200" cy="438912"/>
          </a:xfrm>
          <a:prstGeom prst="roundRect">
            <a:avLst>
              <a:gd fmla="val 12500" name="adj"/>
            </a:avLst>
          </a:prstGeom>
          <a:solidFill>
            <a:srgbClr val="FFFFFF"/>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7690104" y="2898648"/>
            <a:ext cx="3630168" cy="21945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Spatial perception &amp; 3D mapping</a:t>
            </a:r>
            <a:endParaRPr b="0" i="0" sz="1220" u="none" cap="none" strike="noStrike">
              <a:solidFill>
                <a:schemeClr val="dk1"/>
              </a:solidFill>
              <a:latin typeface="Arial"/>
              <a:ea typeface="Arial"/>
              <a:cs typeface="Arial"/>
              <a:sym typeface="Arial"/>
            </a:endParaRPr>
          </a:p>
        </p:txBody>
      </p:sp>
      <p:sp>
        <p:nvSpPr>
          <p:cNvPr id="289" name="Google Shape;289;p9"/>
          <p:cNvSpPr/>
          <p:nvPr/>
        </p:nvSpPr>
        <p:spPr>
          <a:xfrm>
            <a:off x="713232" y="3611880"/>
            <a:ext cx="3886200" cy="438912"/>
          </a:xfrm>
          <a:prstGeom prst="roundRect">
            <a:avLst>
              <a:gd fmla="val 12500" name="adj"/>
            </a:avLst>
          </a:prstGeom>
          <a:solidFill>
            <a:srgbClr val="F3F7FA"/>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841248" y="3721608"/>
            <a:ext cx="3630168"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Sim-to-real validation</a:t>
            </a:r>
            <a:endParaRPr b="0" i="0" sz="1220" u="none" cap="none" strike="noStrike">
              <a:solidFill>
                <a:schemeClr val="dk1"/>
              </a:solidFill>
              <a:latin typeface="Arial"/>
              <a:ea typeface="Arial"/>
              <a:cs typeface="Arial"/>
              <a:sym typeface="Arial"/>
            </a:endParaRPr>
          </a:p>
        </p:txBody>
      </p:sp>
      <p:cxnSp>
        <p:nvCxnSpPr>
          <p:cNvPr id="291" name="Google Shape;291;p9"/>
          <p:cNvCxnSpPr/>
          <p:nvPr/>
        </p:nvCxnSpPr>
        <p:spPr>
          <a:xfrm>
            <a:off x="4864608" y="3831336"/>
            <a:ext cx="2423160" cy="0"/>
          </a:xfrm>
          <a:prstGeom prst="straightConnector1">
            <a:avLst/>
          </a:prstGeom>
          <a:noFill/>
          <a:ln cap="flat" cmpd="sng" w="19050">
            <a:solidFill>
              <a:srgbClr val="2C9AB7"/>
            </a:solidFill>
            <a:prstDash val="solid"/>
            <a:round/>
            <a:headEnd len="sm" w="sm" type="none"/>
            <a:tailEnd len="med" w="med" type="triangle"/>
          </a:ln>
        </p:spPr>
      </p:cxnSp>
      <p:sp>
        <p:nvSpPr>
          <p:cNvPr id="292" name="Google Shape;292;p9"/>
          <p:cNvSpPr/>
          <p:nvPr/>
        </p:nvSpPr>
        <p:spPr>
          <a:xfrm>
            <a:off x="7562088" y="3611880"/>
            <a:ext cx="3886200" cy="438912"/>
          </a:xfrm>
          <a:prstGeom prst="roundRect">
            <a:avLst>
              <a:gd fmla="val 12500" name="adj"/>
            </a:avLst>
          </a:prstGeom>
          <a:solidFill>
            <a:srgbClr val="F9E9DA"/>
          </a:solidFill>
          <a:ln cap="flat" cmpd="sng" w="15225">
            <a:solidFill>
              <a:srgbClr val="D97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7690104" y="3721608"/>
            <a:ext cx="3630168" cy="21945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Field deployment</a:t>
            </a:r>
            <a:endParaRPr b="0" i="0" sz="1220" u="none" cap="none" strike="noStrike">
              <a:solidFill>
                <a:schemeClr val="dk1"/>
              </a:solidFill>
              <a:latin typeface="Arial"/>
              <a:ea typeface="Arial"/>
              <a:cs typeface="Arial"/>
              <a:sym typeface="Arial"/>
            </a:endParaRPr>
          </a:p>
        </p:txBody>
      </p:sp>
      <p:sp>
        <p:nvSpPr>
          <p:cNvPr id="294" name="Google Shape;294;p9"/>
          <p:cNvSpPr/>
          <p:nvPr/>
        </p:nvSpPr>
        <p:spPr>
          <a:xfrm>
            <a:off x="713232" y="4434840"/>
            <a:ext cx="3886200" cy="438912"/>
          </a:xfrm>
          <a:prstGeom prst="roundRect">
            <a:avLst>
              <a:gd fmla="val 12500" name="adj"/>
            </a:avLst>
          </a:prstGeom>
          <a:solidFill>
            <a:srgbClr val="FFFFFF"/>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841248" y="4544568"/>
            <a:ext cx="3630168"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Mobile robot deployment</a:t>
            </a:r>
            <a:endParaRPr b="0" i="0" sz="1220" u="none" cap="none" strike="noStrike">
              <a:solidFill>
                <a:schemeClr val="dk1"/>
              </a:solidFill>
              <a:latin typeface="Arial"/>
              <a:ea typeface="Arial"/>
              <a:cs typeface="Arial"/>
              <a:sym typeface="Arial"/>
            </a:endParaRPr>
          </a:p>
        </p:txBody>
      </p:sp>
      <p:cxnSp>
        <p:nvCxnSpPr>
          <p:cNvPr id="296" name="Google Shape;296;p9"/>
          <p:cNvCxnSpPr/>
          <p:nvPr/>
        </p:nvCxnSpPr>
        <p:spPr>
          <a:xfrm>
            <a:off x="4864608" y="4654296"/>
            <a:ext cx="2423160" cy="0"/>
          </a:xfrm>
          <a:prstGeom prst="straightConnector1">
            <a:avLst/>
          </a:prstGeom>
          <a:noFill/>
          <a:ln cap="flat" cmpd="sng" w="19050">
            <a:solidFill>
              <a:srgbClr val="1667A8"/>
            </a:solidFill>
            <a:prstDash val="solid"/>
            <a:round/>
            <a:headEnd len="sm" w="sm" type="none"/>
            <a:tailEnd len="med" w="med" type="triangle"/>
          </a:ln>
        </p:spPr>
      </p:cxnSp>
      <p:sp>
        <p:nvSpPr>
          <p:cNvPr id="297" name="Google Shape;297;p9"/>
          <p:cNvSpPr/>
          <p:nvPr/>
        </p:nvSpPr>
        <p:spPr>
          <a:xfrm>
            <a:off x="7562088" y="4434840"/>
            <a:ext cx="3886200" cy="438912"/>
          </a:xfrm>
          <a:prstGeom prst="roundRect">
            <a:avLst>
              <a:gd fmla="val 12500" name="adj"/>
            </a:avLst>
          </a:prstGeom>
          <a:solidFill>
            <a:srgbClr val="FFFFFF"/>
          </a:solidFill>
          <a:ln cap="flat" cmpd="sng" w="15225">
            <a:solidFill>
              <a:srgbClr val="DCE5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7690104" y="4544568"/>
            <a:ext cx="3630168" cy="219456"/>
          </a:xfrm>
          <a:prstGeom prst="rect">
            <a:avLst/>
          </a:prstGeom>
          <a:noFill/>
          <a:ln>
            <a:noFill/>
          </a:ln>
        </p:spPr>
        <p:txBody>
          <a:bodyPr anchorCtr="0" anchor="ctr" bIns="0" lIns="0" spcFirstLastPara="1" rIns="0" wrap="square" tIns="0">
            <a:normAutofit/>
          </a:bodyPr>
          <a:lstStyle/>
          <a:p>
            <a:pPr indent="0" lvl="0" marL="0" marR="0" rtl="0" algn="r">
              <a:spcBef>
                <a:spcPts val="0"/>
              </a:spcBef>
              <a:spcAft>
                <a:spcPts val="0"/>
              </a:spcAft>
              <a:buClr>
                <a:srgbClr val="0B2341"/>
              </a:buClr>
              <a:buSzPts val="1220"/>
              <a:buFont typeface="Arial"/>
              <a:buNone/>
            </a:pPr>
            <a:r>
              <a:rPr b="1" i="0" lang="en-US" sz="1220" u="none" cap="none" strike="noStrike">
                <a:solidFill>
                  <a:srgbClr val="0B2341"/>
                </a:solidFill>
                <a:latin typeface="Arial"/>
                <a:ea typeface="Arial"/>
                <a:cs typeface="Arial"/>
                <a:sym typeface="Arial"/>
              </a:rPr>
              <a:t>Autonomous field systems</a:t>
            </a:r>
            <a:endParaRPr b="0" i="0" sz="1220" u="none" cap="none" strike="noStrike">
              <a:solidFill>
                <a:schemeClr val="dk1"/>
              </a:solidFill>
              <a:latin typeface="Arial"/>
              <a:ea typeface="Arial"/>
              <a:cs typeface="Arial"/>
              <a:sym typeface="Arial"/>
            </a:endParaRPr>
          </a:p>
        </p:txBody>
      </p:sp>
      <p:sp>
        <p:nvSpPr>
          <p:cNvPr id="309" name="Google Shape;309;p9"/>
          <p:cNvSpPr/>
          <p:nvPr/>
        </p:nvSpPr>
        <p:spPr>
          <a:xfrm>
            <a:off x="960120" y="5669280"/>
            <a:ext cx="10241280" cy="685800"/>
          </a:xfrm>
          <a:prstGeom prst="roundRect">
            <a:avLst>
              <a:gd fmla="val 6667" name="adj"/>
            </a:avLst>
          </a:prstGeom>
          <a:solidFill>
            <a:srgbClr val="0B2341"/>
          </a:solidFill>
          <a:ln cap="flat" cmpd="sng" w="12700">
            <a:solidFill>
              <a:srgbClr val="0B23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1188720" y="5897880"/>
            <a:ext cx="1600200" cy="1828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93D5E4"/>
              </a:buClr>
              <a:buSzPts val="850"/>
              <a:buFont typeface="Arial"/>
              <a:buNone/>
            </a:pPr>
            <a:r>
              <a:rPr b="1" i="0" lang="en-US" sz="850" u="none" cap="none" strike="noStrike">
                <a:solidFill>
                  <a:srgbClr val="93D5E4"/>
                </a:solidFill>
                <a:latin typeface="Arial"/>
                <a:ea typeface="Arial"/>
                <a:cs typeface="Arial"/>
                <a:sym typeface="Arial"/>
              </a:rPr>
              <a:t>COLLABORATION VALUE</a:t>
            </a:r>
            <a:endParaRPr b="0" i="0" sz="850" u="none" cap="none" strike="noStrike">
              <a:solidFill>
                <a:schemeClr val="dk1"/>
              </a:solidFill>
              <a:latin typeface="Arial"/>
              <a:ea typeface="Arial"/>
              <a:cs typeface="Arial"/>
              <a:sym typeface="Arial"/>
            </a:endParaRPr>
          </a:p>
        </p:txBody>
      </p:sp>
      <p:sp>
        <p:nvSpPr>
          <p:cNvPr id="311" name="Google Shape;311;p9"/>
          <p:cNvSpPr/>
          <p:nvPr/>
        </p:nvSpPr>
        <p:spPr>
          <a:xfrm>
            <a:off x="2880360" y="5797296"/>
            <a:ext cx="7973568" cy="32918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Transferable autonomy connects field robotics with mapping, spatial perception and deployable validation.</a:t>
            </a:r>
            <a:endParaRPr b="0" i="0" sz="1400" u="none" cap="none" strike="noStrike">
              <a:solidFill>
                <a:schemeClr val="dk1"/>
              </a:solidFill>
              <a:latin typeface="Arial"/>
              <a:ea typeface="Arial"/>
              <a:cs typeface="Arial"/>
              <a:sym typeface="Arial"/>
            </a:endParaRPr>
          </a:p>
        </p:txBody>
      </p:sp>
      <p:sp>
        <p:nvSpPr>
          <p:cNvPr id="312" name="Google Shape;312;p9"/>
          <p:cNvSpPr txBox="1"/>
          <p:nvPr>
            <p:ph idx="4294967295" type="sldNum"/>
          </p:nvPr>
        </p:nvSpPr>
        <p:spPr>
          <a:xfrm>
            <a:off x="11247120" y="6537960"/>
            <a:ext cx="41148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p10"/>
          <p:cNvSpPr/>
          <p:nvPr/>
        </p:nvSpPr>
        <p:spPr>
          <a:xfrm>
            <a:off x="571500" y="190500"/>
            <a:ext cx="4206300" cy="14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Inter"/>
                <a:ea typeface="Inter"/>
                <a:cs typeface="Inter"/>
                <a:sym typeface="Inter"/>
              </a:rPr>
              <a:t>ISMAELE CARBONARI · FBK 3DOM</a:t>
            </a:r>
            <a:endParaRPr b="1" sz="800">
              <a:solidFill>
                <a:srgbClr val="64748B"/>
              </a:solidFill>
              <a:latin typeface="Inter"/>
              <a:ea typeface="Inter"/>
              <a:cs typeface="Inter"/>
              <a:sym typeface="Inter"/>
            </a:endParaRPr>
          </a:p>
        </p:txBody>
      </p:sp>
      <p:sp>
        <p:nvSpPr>
          <p:cNvPr id="319" name="Google Shape;319;p10"/>
          <p:cNvSpPr/>
          <p:nvPr/>
        </p:nvSpPr>
        <p:spPr>
          <a:xfrm>
            <a:off x="571500" y="523875"/>
            <a:ext cx="3474600" cy="2013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000">
                <a:solidFill>
                  <a:srgbClr val="1E40AF"/>
                </a:solidFill>
                <a:latin typeface="Inter"/>
                <a:ea typeface="Inter"/>
                <a:cs typeface="Inter"/>
                <a:sym typeface="Inter"/>
              </a:rPr>
              <a:t>POSSIBLE RESEARCH ROADMAP</a:t>
            </a:r>
            <a:endParaRPr b="1" sz="1000">
              <a:solidFill>
                <a:srgbClr val="1E40AF"/>
              </a:solidFill>
              <a:latin typeface="Inter"/>
              <a:ea typeface="Inter"/>
              <a:cs typeface="Inter"/>
              <a:sym typeface="Inter"/>
            </a:endParaRPr>
          </a:p>
        </p:txBody>
      </p:sp>
      <p:sp>
        <p:nvSpPr>
          <p:cNvPr id="320" name="Google Shape;320;p10"/>
          <p:cNvSpPr/>
          <p:nvPr/>
        </p:nvSpPr>
        <p:spPr>
          <a:xfrm>
            <a:off x="571500" y="762000"/>
            <a:ext cx="10881300" cy="5715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3060">
                <a:solidFill>
                  <a:srgbClr val="0F172A"/>
                </a:solidFill>
                <a:latin typeface="Inter ExtraBold"/>
                <a:ea typeface="Inter ExtraBold"/>
                <a:cs typeface="Inter ExtraBold"/>
                <a:sym typeface="Inter ExtraBold"/>
              </a:rPr>
              <a:t>From thesis prototype to collaborative field autonomy</a:t>
            </a:r>
            <a:endParaRPr b="0" sz="3060">
              <a:solidFill>
                <a:srgbClr val="0F172A"/>
              </a:solidFill>
              <a:latin typeface="Inter ExtraBold"/>
              <a:ea typeface="Inter ExtraBold"/>
              <a:cs typeface="Inter ExtraBold"/>
              <a:sym typeface="Inter ExtraBold"/>
            </a:endParaRPr>
          </a:p>
        </p:txBody>
      </p:sp>
      <p:sp>
        <p:nvSpPr>
          <p:cNvPr id="321" name="Google Shape;321;p10"/>
          <p:cNvSpPr/>
          <p:nvPr/>
        </p:nvSpPr>
        <p:spPr>
          <a:xfrm>
            <a:off x="571500" y="1381125"/>
            <a:ext cx="10607100" cy="3108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300">
                <a:solidFill>
                  <a:srgbClr val="475569"/>
                </a:solidFill>
                <a:latin typeface="Inter"/>
                <a:ea typeface="Inter"/>
                <a:cs typeface="Inter"/>
                <a:sym typeface="Inter"/>
              </a:rPr>
              <a:t>A progression from controlled validation to deployable, collaborative autonomy</a:t>
            </a:r>
            <a:endParaRPr b="0" sz="1300">
              <a:solidFill>
                <a:srgbClr val="475569"/>
              </a:solidFill>
              <a:latin typeface="Inter"/>
              <a:ea typeface="Inter"/>
              <a:cs typeface="Inter"/>
              <a:sym typeface="Inter"/>
            </a:endParaRPr>
          </a:p>
        </p:txBody>
      </p:sp>
      <p:sp>
        <p:nvSpPr>
          <p:cNvPr id="322" name="Google Shape;322;p10"/>
          <p:cNvSpPr/>
          <p:nvPr/>
        </p:nvSpPr>
        <p:spPr>
          <a:xfrm>
            <a:off x="571500" y="2000250"/>
            <a:ext cx="11049000" cy="38100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3" name="Google Shape;323;p10"/>
          <p:cNvSpPr/>
          <p:nvPr/>
        </p:nvSpPr>
        <p:spPr>
          <a:xfrm>
            <a:off x="571500" y="2000250"/>
            <a:ext cx="3810000" cy="381000"/>
          </a:xfrm>
          <a:prstGeom prst="roundRect">
            <a:avLst>
              <a:gd fmla="val 40000" name="adj"/>
            </a:avLst>
          </a:prstGeom>
          <a:solidFill>
            <a:srgbClr val="F1FD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4" name="Google Shape;324;p10"/>
          <p:cNvSpPr/>
          <p:nvPr/>
        </p:nvSpPr>
        <p:spPr>
          <a:xfrm>
            <a:off x="4381500" y="2000250"/>
            <a:ext cx="3810000" cy="381000"/>
          </a:xfrm>
          <a:prstGeom prst="roundRect">
            <a:avLst>
              <a:gd fmla="val 40000" name="adj"/>
            </a:avLst>
          </a:prstGeom>
          <a:solidFill>
            <a:srgbClr val="FFF7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5" name="Google Shape;325;p10"/>
          <p:cNvSpPr/>
          <p:nvPr/>
        </p:nvSpPr>
        <p:spPr>
          <a:xfrm>
            <a:off x="8191500" y="2000250"/>
            <a:ext cx="3429000" cy="381000"/>
          </a:xfrm>
          <a:prstGeom prst="roundRect">
            <a:avLst>
              <a:gd fmla="val 4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6" name="Google Shape;326;p10"/>
          <p:cNvSpPr/>
          <p:nvPr/>
        </p:nvSpPr>
        <p:spPr>
          <a:xfrm>
            <a:off x="571500" y="2000250"/>
            <a:ext cx="38100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000">
                <a:solidFill>
                  <a:srgbClr val="059669"/>
                </a:solidFill>
                <a:latin typeface="Inter ExtraBold"/>
                <a:ea typeface="Inter ExtraBold"/>
                <a:cs typeface="Inter ExtraBold"/>
                <a:sym typeface="Inter ExtraBold"/>
              </a:rPr>
              <a:t>COMPLETED</a:t>
            </a:r>
            <a:endParaRPr b="0" sz="1000">
              <a:solidFill>
                <a:srgbClr val="059669"/>
              </a:solidFill>
              <a:latin typeface="Inter ExtraBold"/>
              <a:ea typeface="Inter ExtraBold"/>
              <a:cs typeface="Inter ExtraBold"/>
              <a:sym typeface="Inter ExtraBold"/>
            </a:endParaRPr>
          </a:p>
        </p:txBody>
      </p:sp>
      <p:sp>
        <p:nvSpPr>
          <p:cNvPr id="327" name="Google Shape;327;p10"/>
          <p:cNvSpPr/>
          <p:nvPr/>
        </p:nvSpPr>
        <p:spPr>
          <a:xfrm>
            <a:off x="4381500" y="2000250"/>
            <a:ext cx="38100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000">
                <a:solidFill>
                  <a:srgbClr val="EA580C"/>
                </a:solidFill>
                <a:latin typeface="Inter ExtraBold"/>
                <a:ea typeface="Inter ExtraBold"/>
                <a:cs typeface="Inter ExtraBold"/>
                <a:sym typeface="Inter ExtraBold"/>
              </a:rPr>
              <a:t>RESEARCH TRANSITION</a:t>
            </a:r>
            <a:endParaRPr b="0" sz="1000">
              <a:solidFill>
                <a:srgbClr val="EA580C"/>
              </a:solidFill>
              <a:latin typeface="Inter ExtraBold"/>
              <a:ea typeface="Inter ExtraBold"/>
              <a:cs typeface="Inter ExtraBold"/>
              <a:sym typeface="Inter ExtraBold"/>
            </a:endParaRPr>
          </a:p>
        </p:txBody>
      </p:sp>
      <p:sp>
        <p:nvSpPr>
          <p:cNvPr id="328" name="Google Shape;328;p10"/>
          <p:cNvSpPr/>
          <p:nvPr/>
        </p:nvSpPr>
        <p:spPr>
          <a:xfrm>
            <a:off x="8191500" y="2000250"/>
            <a:ext cx="34290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000">
                <a:solidFill>
                  <a:srgbClr val="2563EB"/>
                </a:solidFill>
                <a:latin typeface="Inter ExtraBold"/>
                <a:ea typeface="Inter ExtraBold"/>
                <a:cs typeface="Inter ExtraBold"/>
                <a:sym typeface="Inter ExtraBold"/>
              </a:rPr>
              <a:t>RESEARCH HORIZON</a:t>
            </a:r>
            <a:endParaRPr b="0" sz="1000">
              <a:solidFill>
                <a:srgbClr val="2563EB"/>
              </a:solidFill>
              <a:latin typeface="Inter ExtraBold"/>
              <a:ea typeface="Inter ExtraBold"/>
              <a:cs typeface="Inter ExtraBold"/>
              <a:sym typeface="Inter ExtraBold"/>
            </a:endParaRPr>
          </a:p>
        </p:txBody>
      </p:sp>
      <p:pic>
        <p:nvPicPr>
          <p:cNvPr id="329" name="Google Shape;329;p10"/>
          <p:cNvPicPr preferRelativeResize="0"/>
          <p:nvPr/>
        </p:nvPicPr>
        <p:blipFill rotWithShape="1">
          <a:blip r:embed="rId4">
            <a:alphaModFix/>
          </a:blip>
          <a:srcRect b="0" l="0" r="0" t="0"/>
          <a:stretch/>
        </p:blipFill>
        <p:spPr>
          <a:xfrm>
            <a:off x="762000" y="4050000"/>
            <a:ext cx="10400000" cy="300000"/>
          </a:xfrm>
          <a:prstGeom prst="rect">
            <a:avLst/>
          </a:prstGeom>
          <a:noFill/>
          <a:ln>
            <a:noFill/>
          </a:ln>
        </p:spPr>
      </p:pic>
      <p:sp>
        <p:nvSpPr>
          <p:cNvPr id="330" name="Google Shape;330;p10"/>
          <p:cNvSpPr/>
          <p:nvPr/>
        </p:nvSpPr>
        <p:spPr>
          <a:xfrm>
            <a:off x="762000" y="2571750"/>
            <a:ext cx="1524000" cy="1047900"/>
          </a:xfrm>
          <a:prstGeom prst="roundRect">
            <a:avLst>
              <a:gd fmla="val 10909" name="adj"/>
            </a:avLst>
          </a:prstGeom>
          <a:solidFill>
            <a:srgbClr val="ECFDF5"/>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0"/>
          <p:cNvSpPr/>
          <p:nvPr/>
        </p:nvSpPr>
        <p:spPr>
          <a:xfrm>
            <a:off x="6000750" y="2571750"/>
            <a:ext cx="1905000" cy="1047900"/>
          </a:xfrm>
          <a:prstGeom prst="roundRect">
            <a:avLst>
              <a:gd fmla="val 10909" name="adj"/>
            </a:avLst>
          </a:prstGeom>
          <a:solidFill>
            <a:srgbClr val="FFF7ED"/>
          </a:solidFill>
          <a:ln cap="flat" cmpd="sng" w="19050">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0"/>
          <p:cNvSpPr/>
          <p:nvPr/>
        </p:nvSpPr>
        <p:spPr>
          <a:xfrm>
            <a:off x="8001000" y="2571750"/>
            <a:ext cx="1143000" cy="1143000"/>
          </a:xfrm>
          <a:prstGeom prst="roundRect">
            <a:avLst>
              <a:gd fmla="val 10000" name="adj"/>
            </a:avLst>
          </a:prstGeom>
          <a:solidFill>
            <a:srgbClr val="FFF7ED"/>
          </a:solidFill>
          <a:ln cap="flat" cmpd="sng" w="19050">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10"/>
          <p:cNvSpPr/>
          <p:nvPr/>
        </p:nvSpPr>
        <p:spPr>
          <a:xfrm>
            <a:off x="9239250" y="2571750"/>
            <a:ext cx="1143000" cy="1143000"/>
          </a:xfrm>
          <a:prstGeom prst="roundRect">
            <a:avLst>
              <a:gd fmla="val 10000" name="adj"/>
            </a:avLst>
          </a:prstGeom>
          <a:solidFill>
            <a:srgbClr val="EFF6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0"/>
          <p:cNvSpPr/>
          <p:nvPr/>
        </p:nvSpPr>
        <p:spPr>
          <a:xfrm>
            <a:off x="10477500" y="2571750"/>
            <a:ext cx="1143000" cy="1143000"/>
          </a:xfrm>
          <a:prstGeom prst="roundRect">
            <a:avLst>
              <a:gd fmla="val 10000" name="adj"/>
            </a:avLst>
          </a:prstGeom>
          <a:solidFill>
            <a:srgbClr val="F8FAFC"/>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0"/>
          <p:cNvSpPr/>
          <p:nvPr/>
        </p:nvSpPr>
        <p:spPr>
          <a:xfrm>
            <a:off x="857250" y="2667000"/>
            <a:ext cx="13335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600">
                <a:solidFill>
                  <a:srgbClr val="064E3B"/>
                </a:solidFill>
                <a:latin typeface="Inter ExtraBold"/>
                <a:ea typeface="Inter ExtraBold"/>
                <a:cs typeface="Inter ExtraBold"/>
                <a:sym typeface="Inter ExtraBold"/>
              </a:rPr>
              <a:t>Validated Core</a:t>
            </a:r>
            <a:endParaRPr b="0" sz="1600">
              <a:solidFill>
                <a:srgbClr val="064E3B"/>
              </a:solidFill>
              <a:latin typeface="Inter ExtraBold"/>
              <a:ea typeface="Inter ExtraBold"/>
              <a:cs typeface="Inter ExtraBold"/>
              <a:sym typeface="Inter ExtraBold"/>
            </a:endParaRPr>
          </a:p>
        </p:txBody>
      </p:sp>
      <p:sp>
        <p:nvSpPr>
          <p:cNvPr id="336" name="Google Shape;336;p10"/>
          <p:cNvSpPr/>
          <p:nvPr/>
        </p:nvSpPr>
        <p:spPr>
          <a:xfrm>
            <a:off x="857250" y="3143250"/>
            <a:ext cx="1333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000">
                <a:solidFill>
                  <a:srgbClr val="059669"/>
                </a:solidFill>
                <a:latin typeface="Inter"/>
                <a:ea typeface="Inter"/>
                <a:cs typeface="Inter"/>
                <a:sym typeface="Inter"/>
              </a:rPr>
              <a:t>simulator · car · tracked robot</a:t>
            </a:r>
            <a:endParaRPr b="0" sz="1000">
              <a:solidFill>
                <a:srgbClr val="059669"/>
              </a:solidFill>
              <a:latin typeface="Inter"/>
              <a:ea typeface="Inter"/>
              <a:cs typeface="Inter"/>
              <a:sym typeface="Inter"/>
            </a:endParaRPr>
          </a:p>
        </p:txBody>
      </p:sp>
      <p:sp>
        <p:nvSpPr>
          <p:cNvPr id="337" name="Google Shape;337;p10"/>
          <p:cNvSpPr/>
          <p:nvPr/>
        </p:nvSpPr>
        <p:spPr>
          <a:xfrm>
            <a:off x="6096000" y="2667000"/>
            <a:ext cx="17145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600">
                <a:solidFill>
                  <a:srgbClr val="7C2D12"/>
                </a:solidFill>
                <a:latin typeface="Inter ExtraBold"/>
                <a:ea typeface="Inter ExtraBold"/>
                <a:cs typeface="Inter ExtraBold"/>
                <a:sym typeface="Inter ExtraBold"/>
              </a:rPr>
              <a:t>Field Platforms</a:t>
            </a:r>
            <a:endParaRPr b="0" sz="1600">
              <a:solidFill>
                <a:srgbClr val="7C2D12"/>
              </a:solidFill>
              <a:latin typeface="Inter ExtraBold"/>
              <a:ea typeface="Inter ExtraBold"/>
              <a:cs typeface="Inter ExtraBold"/>
              <a:sym typeface="Inter ExtraBold"/>
            </a:endParaRPr>
          </a:p>
        </p:txBody>
      </p:sp>
      <p:sp>
        <p:nvSpPr>
          <p:cNvPr id="338" name="Google Shape;338;p10"/>
          <p:cNvSpPr/>
          <p:nvPr/>
        </p:nvSpPr>
        <p:spPr>
          <a:xfrm>
            <a:off x="6096000" y="3143250"/>
            <a:ext cx="17145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900">
                <a:solidFill>
                  <a:srgbClr val="9A3412"/>
                </a:solidFill>
                <a:latin typeface="Inter"/>
                <a:ea typeface="Inter"/>
                <a:cs typeface="Inter"/>
                <a:sym typeface="Inter"/>
              </a:rPr>
              <a:t>outdoor deployment · richer perception</a:t>
            </a:r>
            <a:endParaRPr b="0" sz="900">
              <a:solidFill>
                <a:srgbClr val="9A3412"/>
              </a:solidFill>
              <a:latin typeface="Inter"/>
              <a:ea typeface="Inter"/>
              <a:cs typeface="Inter"/>
              <a:sym typeface="Inter"/>
            </a:endParaRPr>
          </a:p>
        </p:txBody>
      </p:sp>
      <p:sp>
        <p:nvSpPr>
          <p:cNvPr id="339" name="Google Shape;339;p10"/>
          <p:cNvSpPr/>
          <p:nvPr/>
        </p:nvSpPr>
        <p:spPr>
          <a:xfrm>
            <a:off x="8096250" y="2667000"/>
            <a:ext cx="952500" cy="95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7C2D12"/>
                </a:solidFill>
                <a:latin typeface="Inter"/>
                <a:ea typeface="Inter"/>
                <a:cs typeface="Inter"/>
                <a:sym typeface="Inter"/>
              </a:rPr>
              <a:t>Field Robotics</a:t>
            </a:r>
            <a:endParaRPr b="1" sz="1300">
              <a:solidFill>
                <a:srgbClr val="7C2D12"/>
              </a:solidFill>
              <a:latin typeface="Inter"/>
              <a:ea typeface="Inter"/>
              <a:cs typeface="Inter"/>
              <a:sym typeface="Inter"/>
            </a:endParaRPr>
          </a:p>
        </p:txBody>
      </p:sp>
      <p:sp>
        <p:nvSpPr>
          <p:cNvPr id="340" name="Google Shape;340;p10"/>
          <p:cNvSpPr/>
          <p:nvPr/>
        </p:nvSpPr>
        <p:spPr>
          <a:xfrm>
            <a:off x="9334500" y="2667000"/>
            <a:ext cx="952500" cy="95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1E3A8A"/>
                </a:solidFill>
                <a:latin typeface="Inter"/>
                <a:ea typeface="Inter"/>
                <a:cs typeface="Inter"/>
                <a:sym typeface="Inter"/>
              </a:rPr>
              <a:t>3D Perception</a:t>
            </a:r>
            <a:endParaRPr b="1" sz="1300">
              <a:solidFill>
                <a:srgbClr val="1E3A8A"/>
              </a:solidFill>
              <a:latin typeface="Inter"/>
              <a:ea typeface="Inter"/>
              <a:cs typeface="Inter"/>
              <a:sym typeface="Inter"/>
            </a:endParaRPr>
          </a:p>
        </p:txBody>
      </p:sp>
      <p:sp>
        <p:nvSpPr>
          <p:cNvPr id="341" name="Google Shape;341;p10"/>
          <p:cNvSpPr/>
          <p:nvPr/>
        </p:nvSpPr>
        <p:spPr>
          <a:xfrm>
            <a:off x="10572750" y="2667000"/>
            <a:ext cx="952500" cy="952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110">
                <a:solidFill>
                  <a:srgbClr val="334155"/>
                </a:solidFill>
                <a:latin typeface="Inter"/>
                <a:ea typeface="Inter"/>
                <a:cs typeface="Inter"/>
                <a:sym typeface="Inter"/>
              </a:rPr>
              <a:t>Collaborative Autonomy</a:t>
            </a:r>
            <a:endParaRPr b="1" sz="1110">
              <a:solidFill>
                <a:srgbClr val="334155"/>
              </a:solidFill>
              <a:latin typeface="Inter"/>
              <a:ea typeface="Inter"/>
              <a:cs typeface="Inter"/>
              <a:sym typeface="Inter"/>
            </a:endParaRPr>
          </a:p>
        </p:txBody>
      </p:sp>
      <p:pic>
        <p:nvPicPr>
          <p:cNvPr id="342" name="Google Shape;342;p10"/>
          <p:cNvPicPr preferRelativeResize="0"/>
          <p:nvPr/>
        </p:nvPicPr>
        <p:blipFill rotWithShape="1">
          <a:blip r:embed="rId5">
            <a:alphaModFix/>
          </a:blip>
          <a:srcRect b="0" l="0" r="0" t="0"/>
          <a:stretch/>
        </p:blipFill>
        <p:spPr>
          <a:xfrm>
            <a:off x="2381250" y="2476500"/>
            <a:ext cx="1714500" cy="1143000"/>
          </a:xfrm>
          <a:prstGeom prst="rect">
            <a:avLst/>
          </a:prstGeom>
          <a:noFill/>
          <a:ln>
            <a:noFill/>
          </a:ln>
        </p:spPr>
      </p:pic>
      <p:pic>
        <p:nvPicPr>
          <p:cNvPr id="343" name="Google Shape;343;p10"/>
          <p:cNvPicPr preferRelativeResize="0"/>
          <p:nvPr/>
        </p:nvPicPr>
        <p:blipFill rotWithShape="1">
          <a:blip r:embed="rId6">
            <a:alphaModFix/>
          </a:blip>
          <a:srcRect b="0" l="0" r="0" t="0"/>
          <a:stretch/>
        </p:blipFill>
        <p:spPr>
          <a:xfrm>
            <a:off x="4191000" y="2476500"/>
            <a:ext cx="1714500" cy="1143000"/>
          </a:xfrm>
          <a:prstGeom prst="rect">
            <a:avLst/>
          </a:prstGeom>
          <a:noFill/>
          <a:ln>
            <a:noFill/>
          </a:ln>
        </p:spPr>
      </p:pic>
      <p:sp>
        <p:nvSpPr>
          <p:cNvPr id="344" name="Google Shape;344;p10"/>
          <p:cNvSpPr/>
          <p:nvPr/>
        </p:nvSpPr>
        <p:spPr>
          <a:xfrm>
            <a:off x="2381250" y="3667125"/>
            <a:ext cx="1714500" cy="2382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Robot car</a:t>
            </a:r>
            <a:endParaRPr b="1" sz="1000">
              <a:solidFill>
                <a:srgbClr val="0F172A"/>
              </a:solidFill>
              <a:latin typeface="Inter"/>
              <a:ea typeface="Inter"/>
              <a:cs typeface="Inter"/>
              <a:sym typeface="Inter"/>
            </a:endParaRPr>
          </a:p>
        </p:txBody>
      </p:sp>
      <p:sp>
        <p:nvSpPr>
          <p:cNvPr id="345" name="Google Shape;345;p10"/>
          <p:cNvSpPr/>
          <p:nvPr/>
        </p:nvSpPr>
        <p:spPr>
          <a:xfrm>
            <a:off x="4191000" y="3667125"/>
            <a:ext cx="1714500" cy="2382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000">
                <a:solidFill>
                  <a:srgbClr val="0F172A"/>
                </a:solidFill>
                <a:latin typeface="Inter"/>
                <a:ea typeface="Inter"/>
                <a:cs typeface="Inter"/>
                <a:sym typeface="Inter"/>
              </a:rPr>
              <a:t>Tracked robot</a:t>
            </a:r>
            <a:endParaRPr b="1" sz="1000">
              <a:solidFill>
                <a:srgbClr val="0F172A"/>
              </a:solidFill>
              <a:latin typeface="Inter"/>
              <a:ea typeface="Inter"/>
              <a:cs typeface="Inter"/>
              <a:sym typeface="Inter"/>
            </a:endParaRPr>
          </a:p>
        </p:txBody>
      </p:sp>
      <p:sp>
        <p:nvSpPr>
          <p:cNvPr id="346" name="Google Shape;346;p10"/>
          <p:cNvSpPr/>
          <p:nvPr/>
        </p:nvSpPr>
        <p:spPr>
          <a:xfrm>
            <a:off x="5715000" y="4450000"/>
            <a:ext cx="5238900" cy="2382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r">
              <a:spcBef>
                <a:spcPts val="0"/>
              </a:spcBef>
              <a:spcAft>
                <a:spcPts val="0"/>
              </a:spcAft>
              <a:buNone/>
            </a:pPr>
            <a:r>
              <a:rPr b="0" i="1" lang="en-US" sz="1000">
                <a:solidFill>
                  <a:srgbClr val="3B82F6"/>
                </a:solidFill>
                <a:latin typeface="Inter SemiBold"/>
                <a:ea typeface="Inter SemiBold"/>
                <a:cs typeface="Inter SemiBold"/>
                <a:sym typeface="Inter SemiBold"/>
              </a:rPr>
              <a:t>Higher scale · richer sensing · greater autonomy</a:t>
            </a:r>
            <a:endParaRPr b="0" i="1" sz="1000">
              <a:solidFill>
                <a:srgbClr val="3B82F6"/>
              </a:solidFill>
              <a:latin typeface="Inter SemiBold"/>
              <a:ea typeface="Inter SemiBold"/>
              <a:cs typeface="Inter SemiBold"/>
              <a:sym typeface="Inter SemiBold"/>
            </a:endParaRPr>
          </a:p>
        </p:txBody>
      </p:sp>
      <p:sp>
        <p:nvSpPr>
          <p:cNvPr id="347" name="Google Shape;347;p10"/>
          <p:cNvSpPr/>
          <p:nvPr/>
        </p:nvSpPr>
        <p:spPr>
          <a:xfrm>
            <a:off x="571500" y="6048375"/>
            <a:ext cx="11049000" cy="476400"/>
          </a:xfrm>
          <a:prstGeom prst="rect">
            <a:avLst/>
          </a:prstGeom>
          <a:solidFill>
            <a:srgbClr val="0F172A"/>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600">
                <a:solidFill>
                  <a:srgbClr val="FFFFFF"/>
                </a:solidFill>
                <a:latin typeface="Inter"/>
                <a:ea typeface="Inter"/>
                <a:cs typeface="Inter"/>
                <a:sym typeface="Inter"/>
              </a:rPr>
              <a:t>The thesis is the first experimental layer of a broader research trajectory.</a:t>
            </a:r>
            <a:endParaRPr b="1" sz="1600">
              <a:solidFill>
                <a:srgbClr val="FFFFFF"/>
              </a:solidFill>
              <a:latin typeface="Inter"/>
              <a:ea typeface="Inter"/>
              <a:cs typeface="Inter"/>
              <a:sym typeface="Inter"/>
            </a:endParaRPr>
          </a:p>
        </p:txBody>
      </p:sp>
      <p:sp>
        <p:nvSpPr>
          <p:cNvPr id="348" name="Google Shape;348;p10"/>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3" name="Shape 353"/>
        <p:cNvGrpSpPr/>
        <p:nvPr/>
      </p:nvGrpSpPr>
      <p:grpSpPr>
        <a:xfrm>
          <a:off x="0" y="0"/>
          <a:ext cx="0" cy="0"/>
          <a:chOff x="0" y="0"/>
          <a:chExt cx="0" cy="0"/>
        </a:xfrm>
      </p:grpSpPr>
      <p:grpSp>
        <p:nvGrpSpPr>
          <p:cNvPr id="354" name="Google Shape;354;p11"/>
          <p:cNvGrpSpPr/>
          <p:nvPr/>
        </p:nvGrpSpPr>
        <p:grpSpPr>
          <a:xfrm>
            <a:off x="571500" y="285750"/>
            <a:ext cx="10877700" cy="1286025"/>
            <a:chOff x="571500" y="285750"/>
            <a:chExt cx="10877700" cy="1286025"/>
          </a:xfrm>
        </p:grpSpPr>
        <p:sp>
          <p:nvSpPr>
            <p:cNvPr id="355" name="Google Shape;355;p11"/>
            <p:cNvSpPr txBox="1"/>
            <p:nvPr/>
          </p:nvSpPr>
          <p:spPr>
            <a:xfrm>
              <a:off x="571500" y="285750"/>
              <a:ext cx="42006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Inter"/>
                  <a:ea typeface="Inter"/>
                  <a:cs typeface="Inter"/>
                  <a:sym typeface="Inter"/>
                </a:rPr>
                <a:t>ISMAELE CARBONARI · FBK 3DOM</a:t>
              </a:r>
              <a:endParaRPr b="1" sz="800">
                <a:solidFill>
                  <a:srgbClr val="64748B"/>
                </a:solidFill>
                <a:latin typeface="Inter"/>
                <a:ea typeface="Inter"/>
                <a:cs typeface="Inter"/>
                <a:sym typeface="Inter"/>
              </a:endParaRPr>
            </a:p>
          </p:txBody>
        </p:sp>
        <p:sp>
          <p:nvSpPr>
            <p:cNvPr id="356" name="Google Shape;356;p11"/>
            <p:cNvSpPr txBox="1"/>
            <p:nvPr/>
          </p:nvSpPr>
          <p:spPr>
            <a:xfrm>
              <a:off x="571500" y="523875"/>
              <a:ext cx="34767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Inter"/>
                  <a:ea typeface="Inter"/>
                  <a:cs typeface="Inter"/>
                  <a:sym typeface="Inter"/>
                </a:rPr>
                <a:t>POSSIBLE PLATFORMS</a:t>
              </a:r>
              <a:endParaRPr b="1" sz="1000">
                <a:solidFill>
                  <a:srgbClr val="1E40AF"/>
                </a:solidFill>
                <a:latin typeface="Inter"/>
                <a:ea typeface="Inter"/>
                <a:cs typeface="Inter"/>
                <a:sym typeface="Inter"/>
              </a:endParaRPr>
            </a:p>
          </p:txBody>
        </p:sp>
        <p:sp>
          <p:nvSpPr>
            <p:cNvPr id="357" name="Google Shape;357;p11"/>
            <p:cNvSpPr txBox="1"/>
            <p:nvPr/>
          </p:nvSpPr>
          <p:spPr>
            <a:xfrm>
              <a:off x="571500" y="762000"/>
              <a:ext cx="108777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000">
                  <a:solidFill>
                    <a:srgbClr val="0F172A"/>
                  </a:solidFill>
                  <a:latin typeface="Inter ExtraBold"/>
                  <a:ea typeface="Inter ExtraBold"/>
                  <a:cs typeface="Inter ExtraBold"/>
                  <a:sym typeface="Inter ExtraBold"/>
                </a:rPr>
                <a:t>Two complementary directions for collaboration</a:t>
              </a:r>
              <a:endParaRPr b="0" sz="3000">
                <a:solidFill>
                  <a:srgbClr val="0F172A"/>
                </a:solidFill>
                <a:latin typeface="Inter ExtraBold"/>
                <a:ea typeface="Inter ExtraBold"/>
                <a:cs typeface="Inter ExtraBold"/>
                <a:sym typeface="Inter ExtraBold"/>
              </a:endParaRPr>
            </a:p>
          </p:txBody>
        </p:sp>
        <p:sp>
          <p:nvSpPr>
            <p:cNvPr id="358" name="Google Shape;358;p11"/>
            <p:cNvSpPr txBox="1"/>
            <p:nvPr/>
          </p:nvSpPr>
          <p:spPr>
            <a:xfrm>
              <a:off x="571500" y="1285875"/>
              <a:ext cx="106014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300">
                  <a:solidFill>
                    <a:srgbClr val="475569"/>
                  </a:solidFill>
                  <a:latin typeface="Inter"/>
                  <a:ea typeface="Inter"/>
                  <a:cs typeface="Inter"/>
                  <a:sym typeface="Inter"/>
                </a:rPr>
                <a:t>Ground and aerial systems expose different embodiments to the same autonomy and validation framework</a:t>
              </a:r>
              <a:endParaRPr b="0" sz="1300">
                <a:solidFill>
                  <a:srgbClr val="475569"/>
                </a:solidFill>
                <a:latin typeface="Inter"/>
                <a:ea typeface="Inter"/>
                <a:cs typeface="Inter"/>
                <a:sym typeface="Inter"/>
              </a:endParaRPr>
            </a:p>
          </p:txBody>
        </p:sp>
      </p:grpSp>
      <p:grpSp>
        <p:nvGrpSpPr>
          <p:cNvPr id="359" name="Google Shape;359;p11"/>
          <p:cNvGrpSpPr/>
          <p:nvPr/>
        </p:nvGrpSpPr>
        <p:grpSpPr>
          <a:xfrm>
            <a:off x="571500" y="1809750"/>
            <a:ext cx="5334000" cy="3810000"/>
            <a:chOff x="571500" y="1809750"/>
            <a:chExt cx="5334000" cy="3810000"/>
          </a:xfrm>
        </p:grpSpPr>
        <p:sp>
          <p:nvSpPr>
            <p:cNvPr id="360" name="Google Shape;360;p11"/>
            <p:cNvSpPr/>
            <p:nvPr/>
          </p:nvSpPr>
          <p:spPr>
            <a:xfrm>
              <a:off x="571500" y="1809750"/>
              <a:ext cx="5334000" cy="38100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1"/>
            <p:cNvSpPr/>
            <p:nvPr/>
          </p:nvSpPr>
          <p:spPr>
            <a:xfrm>
              <a:off x="571500" y="1809750"/>
              <a:ext cx="5334000" cy="428700"/>
            </a:xfrm>
            <a:prstGeom prst="roundRect">
              <a:avLst>
                <a:gd fmla="val 35555"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1"/>
            <p:cNvSpPr txBox="1"/>
            <p:nvPr/>
          </p:nvSpPr>
          <p:spPr>
            <a:xfrm>
              <a:off x="571500" y="1809750"/>
              <a:ext cx="5334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1E40AF"/>
                  </a:solidFill>
                  <a:latin typeface="Inter ExtraBold"/>
                  <a:ea typeface="Inter ExtraBold"/>
                  <a:cs typeface="Inter ExtraBold"/>
                  <a:sym typeface="Inter ExtraBold"/>
                </a:rPr>
                <a:t>GROUND PLATFORM</a:t>
              </a:r>
              <a:endParaRPr b="0" sz="1100">
                <a:solidFill>
                  <a:srgbClr val="1E40AF"/>
                </a:solidFill>
                <a:latin typeface="Inter ExtraBold"/>
                <a:ea typeface="Inter ExtraBold"/>
                <a:cs typeface="Inter ExtraBold"/>
                <a:sym typeface="Inter ExtraBold"/>
              </a:endParaRPr>
            </a:p>
          </p:txBody>
        </p:sp>
        <p:pic>
          <p:nvPicPr>
            <p:cNvPr descr="A high-tech Leo Rover ground robot navigating a rugged outdoor terrain, professional photography, clean background." id="363" name="Google Shape;363;p11"/>
            <p:cNvPicPr preferRelativeResize="0"/>
            <p:nvPr/>
          </p:nvPicPr>
          <p:blipFill rotWithShape="1">
            <a:blip r:embed="rId4">
              <a:alphaModFix/>
            </a:blip>
            <a:srcRect b="16667" l="0" r="0" t="16667"/>
            <a:stretch/>
          </p:blipFill>
          <p:spPr>
            <a:xfrm>
              <a:off x="952500" y="2381250"/>
              <a:ext cx="4572000" cy="1714500"/>
            </a:xfrm>
            <a:prstGeom prst="roundRect">
              <a:avLst>
                <a:gd fmla="val 6666" name="adj"/>
              </a:avLst>
            </a:prstGeom>
            <a:noFill/>
            <a:ln>
              <a:noFill/>
            </a:ln>
          </p:spPr>
        </p:pic>
        <p:sp>
          <p:nvSpPr>
            <p:cNvPr id="364" name="Google Shape;364;p11"/>
            <p:cNvSpPr txBox="1"/>
            <p:nvPr/>
          </p:nvSpPr>
          <p:spPr>
            <a:xfrm>
              <a:off x="952500" y="4191000"/>
              <a:ext cx="4572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64748B"/>
                  </a:solidFill>
                  <a:latin typeface="Inter SemiBold"/>
                  <a:ea typeface="Inter SemiBold"/>
                  <a:cs typeface="Inter SemiBold"/>
                  <a:sym typeface="Inter SemiBold"/>
                </a:rPr>
                <a:t>Expected outcome: outdoor autonomous navigation</a:t>
              </a:r>
              <a:endParaRPr b="0" sz="1100">
                <a:solidFill>
                  <a:srgbClr val="64748B"/>
                </a:solidFill>
                <a:latin typeface="Inter SemiBold"/>
                <a:ea typeface="Inter SemiBold"/>
                <a:cs typeface="Inter SemiBold"/>
                <a:sym typeface="Inter SemiBold"/>
              </a:endParaRPr>
            </a:p>
          </p:txBody>
        </p:sp>
        <p:sp>
          <p:nvSpPr>
            <p:cNvPr id="365" name="Google Shape;365;p11"/>
            <p:cNvSpPr txBox="1"/>
            <p:nvPr/>
          </p:nvSpPr>
          <p:spPr>
            <a:xfrm>
              <a:off x="952500" y="4524375"/>
              <a:ext cx="4572000" cy="9525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0F172A"/>
                </a:buClr>
                <a:buSzPts val="1200"/>
                <a:buFont typeface="Inter"/>
                <a:buChar char="●"/>
              </a:pPr>
              <a:r>
                <a:rPr lang="en-US" sz="1200">
                  <a:solidFill>
                    <a:srgbClr val="0F172A"/>
                  </a:solidFill>
                  <a:latin typeface="Inter"/>
                  <a:ea typeface="Inter"/>
                  <a:cs typeface="Inter"/>
                  <a:sym typeface="Inter"/>
                </a:rPr>
                <a:t>Visual-LiDAR SLAM</a:t>
              </a:r>
              <a:endParaRPr sz="1200">
                <a:solidFill>
                  <a:srgbClr val="0F172A"/>
                </a:solidFill>
                <a:latin typeface="Inter"/>
                <a:ea typeface="Inter"/>
                <a:cs typeface="Inter"/>
                <a:sym typeface="Inter"/>
              </a:endParaRPr>
            </a:p>
            <a:p>
              <a:pPr indent="-304800" lvl="0" marL="457200" rtl="0" algn="l">
                <a:spcBef>
                  <a:spcPts val="600"/>
                </a:spcBef>
                <a:spcAft>
                  <a:spcPts val="0"/>
                </a:spcAft>
                <a:buClr>
                  <a:srgbClr val="0F172A"/>
                </a:buClr>
                <a:buSzPts val="1200"/>
                <a:buFont typeface="Inter"/>
                <a:buChar char="●"/>
              </a:pPr>
              <a:r>
                <a:rPr lang="en-US" sz="1200">
                  <a:solidFill>
                    <a:srgbClr val="0F172A"/>
                  </a:solidFill>
                  <a:latin typeface="Inter"/>
                  <a:ea typeface="Inter"/>
                  <a:cs typeface="Inter"/>
                  <a:sym typeface="Inter"/>
                </a:rPr>
                <a:t>Autonomous exploration</a:t>
              </a:r>
              <a:endParaRPr sz="1200">
                <a:solidFill>
                  <a:srgbClr val="0F172A"/>
                </a:solidFill>
                <a:latin typeface="Inter"/>
                <a:ea typeface="Inter"/>
                <a:cs typeface="Inter"/>
                <a:sym typeface="Inter"/>
              </a:endParaRPr>
            </a:p>
            <a:p>
              <a:pPr indent="-304800" lvl="0" marL="457200" rtl="0" algn="l">
                <a:spcBef>
                  <a:spcPts val="600"/>
                </a:spcBef>
                <a:spcAft>
                  <a:spcPts val="0"/>
                </a:spcAft>
                <a:buClr>
                  <a:srgbClr val="0F172A"/>
                </a:buClr>
                <a:buSzPts val="1200"/>
                <a:buFont typeface="Inter"/>
                <a:buChar char="●"/>
              </a:pPr>
              <a:r>
                <a:rPr lang="en-US" sz="1200">
                  <a:solidFill>
                    <a:srgbClr val="0F172A"/>
                  </a:solidFill>
                  <a:latin typeface="Inter"/>
                  <a:ea typeface="Inter"/>
                  <a:cs typeface="Inter"/>
                  <a:sym typeface="Inter"/>
                </a:rPr>
                <a:t>GNSS-denied field validation</a:t>
              </a:r>
              <a:endParaRPr sz="1200">
                <a:solidFill>
                  <a:srgbClr val="0F172A"/>
                </a:solidFill>
                <a:latin typeface="Inter"/>
                <a:ea typeface="Inter"/>
                <a:cs typeface="Inter"/>
                <a:sym typeface="Inter"/>
              </a:endParaRPr>
            </a:p>
          </p:txBody>
        </p:sp>
      </p:grpSp>
      <p:grpSp>
        <p:nvGrpSpPr>
          <p:cNvPr id="366" name="Google Shape;366;p11"/>
          <p:cNvGrpSpPr/>
          <p:nvPr/>
        </p:nvGrpSpPr>
        <p:grpSpPr>
          <a:xfrm>
            <a:off x="6286500" y="1809750"/>
            <a:ext cx="5334000" cy="3810000"/>
            <a:chOff x="6286500" y="1809750"/>
            <a:chExt cx="5334000" cy="3810000"/>
          </a:xfrm>
        </p:grpSpPr>
        <p:sp>
          <p:nvSpPr>
            <p:cNvPr id="367" name="Google Shape;367;p11"/>
            <p:cNvSpPr/>
            <p:nvPr/>
          </p:nvSpPr>
          <p:spPr>
            <a:xfrm>
              <a:off x="6286500" y="1809750"/>
              <a:ext cx="5334000" cy="3810000"/>
            </a:xfrm>
            <a:prstGeom prst="roundRect">
              <a:avLst>
                <a:gd fmla="val 4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11"/>
            <p:cNvSpPr/>
            <p:nvPr/>
          </p:nvSpPr>
          <p:spPr>
            <a:xfrm>
              <a:off x="6286500" y="1809750"/>
              <a:ext cx="5334000" cy="428700"/>
            </a:xfrm>
            <a:prstGeom prst="roundRect">
              <a:avLst>
                <a:gd fmla="val 35555" name="adj"/>
              </a:avLst>
            </a:prstGeom>
            <a:solidFill>
              <a:srgbClr val="FFF7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1"/>
            <p:cNvSpPr txBox="1"/>
            <p:nvPr/>
          </p:nvSpPr>
          <p:spPr>
            <a:xfrm>
              <a:off x="6286500" y="1809750"/>
              <a:ext cx="53340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EA580C"/>
                  </a:solidFill>
                  <a:latin typeface="Inter ExtraBold"/>
                  <a:ea typeface="Inter ExtraBold"/>
                  <a:cs typeface="Inter ExtraBold"/>
                  <a:sym typeface="Inter ExtraBold"/>
                </a:rPr>
                <a:t>AERIAL PLATFORM</a:t>
              </a:r>
              <a:endParaRPr b="0" sz="1100">
                <a:solidFill>
                  <a:srgbClr val="EA580C"/>
                </a:solidFill>
                <a:latin typeface="Inter ExtraBold"/>
                <a:ea typeface="Inter ExtraBold"/>
                <a:cs typeface="Inter ExtraBold"/>
                <a:sym typeface="Inter ExtraBold"/>
              </a:endParaRPr>
            </a:p>
          </p:txBody>
        </p:sp>
        <p:pic>
          <p:nvPicPr>
            <p:cNvPr descr="A sophisticated quadcopter UAV drone flying over a vast natural landscape, wildlife monitoring context, aerial view, cinematic lighting." id="370" name="Google Shape;370;p11"/>
            <p:cNvPicPr preferRelativeResize="0"/>
            <p:nvPr/>
          </p:nvPicPr>
          <p:blipFill rotWithShape="1">
            <a:blip r:embed="rId5">
              <a:alphaModFix/>
            </a:blip>
            <a:srcRect b="16667" l="0" r="0" t="16667"/>
            <a:stretch/>
          </p:blipFill>
          <p:spPr>
            <a:xfrm>
              <a:off x="6667500" y="2381250"/>
              <a:ext cx="4572000" cy="1714500"/>
            </a:xfrm>
            <a:prstGeom prst="roundRect">
              <a:avLst>
                <a:gd fmla="val 6666" name="adj"/>
              </a:avLst>
            </a:prstGeom>
            <a:noFill/>
            <a:ln>
              <a:noFill/>
            </a:ln>
          </p:spPr>
        </p:pic>
        <p:sp>
          <p:nvSpPr>
            <p:cNvPr id="371" name="Google Shape;371;p11"/>
            <p:cNvSpPr txBox="1"/>
            <p:nvPr/>
          </p:nvSpPr>
          <p:spPr>
            <a:xfrm>
              <a:off x="6667500" y="4191000"/>
              <a:ext cx="45720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100">
                  <a:solidFill>
                    <a:srgbClr val="64748B"/>
                  </a:solidFill>
                  <a:latin typeface="Inter SemiBold"/>
                  <a:ea typeface="Inter SemiBold"/>
                  <a:cs typeface="Inter SemiBold"/>
                  <a:sym typeface="Inter SemiBold"/>
                </a:rPr>
                <a:t>Expected outcome: adaptive aerial missions</a:t>
              </a:r>
              <a:endParaRPr b="0" sz="1100">
                <a:solidFill>
                  <a:srgbClr val="64748B"/>
                </a:solidFill>
                <a:latin typeface="Inter SemiBold"/>
                <a:ea typeface="Inter SemiBold"/>
                <a:cs typeface="Inter SemiBold"/>
                <a:sym typeface="Inter SemiBold"/>
              </a:endParaRPr>
            </a:p>
          </p:txBody>
        </p:sp>
        <p:sp>
          <p:nvSpPr>
            <p:cNvPr id="372" name="Google Shape;372;p11"/>
            <p:cNvSpPr txBox="1"/>
            <p:nvPr/>
          </p:nvSpPr>
          <p:spPr>
            <a:xfrm>
              <a:off x="6667500" y="4524375"/>
              <a:ext cx="4572000" cy="952500"/>
            </a:xfrm>
            <a:prstGeom prst="rect">
              <a:avLst/>
            </a:prstGeom>
            <a:noFill/>
            <a:ln>
              <a:noFill/>
            </a:ln>
          </p:spPr>
          <p:txBody>
            <a:bodyPr anchorCtr="0" anchor="t" bIns="0" lIns="0" spcFirstLastPara="1" rIns="0" wrap="square" tIns="0">
              <a:noAutofit/>
            </a:bodyPr>
            <a:lstStyle/>
            <a:p>
              <a:pPr indent="-304800" lvl="0" marL="457200" rtl="0" algn="l">
                <a:spcBef>
                  <a:spcPts val="0"/>
                </a:spcBef>
                <a:spcAft>
                  <a:spcPts val="0"/>
                </a:spcAft>
                <a:buClr>
                  <a:srgbClr val="0F172A"/>
                </a:buClr>
                <a:buSzPts val="1200"/>
                <a:buFont typeface="Inter"/>
                <a:buChar char="●"/>
              </a:pPr>
              <a:r>
                <a:rPr lang="en-US" sz="1200">
                  <a:solidFill>
                    <a:srgbClr val="0F172A"/>
                  </a:solidFill>
                  <a:latin typeface="Inter"/>
                  <a:ea typeface="Inter"/>
                  <a:cs typeface="Inter"/>
                  <a:sym typeface="Inter"/>
                </a:rPr>
                <a:t>Dynamic flight autonomy</a:t>
              </a:r>
              <a:endParaRPr sz="1200">
                <a:solidFill>
                  <a:srgbClr val="0F172A"/>
                </a:solidFill>
                <a:latin typeface="Inter"/>
                <a:ea typeface="Inter"/>
                <a:cs typeface="Inter"/>
                <a:sym typeface="Inter"/>
              </a:endParaRPr>
            </a:p>
            <a:p>
              <a:pPr indent="-304800" lvl="0" marL="457200" rtl="0" algn="l">
                <a:spcBef>
                  <a:spcPts val="600"/>
                </a:spcBef>
                <a:spcAft>
                  <a:spcPts val="0"/>
                </a:spcAft>
                <a:buClr>
                  <a:srgbClr val="0F172A"/>
                </a:buClr>
                <a:buSzPts val="1200"/>
                <a:buFont typeface="Inter"/>
                <a:buChar char="●"/>
              </a:pPr>
              <a:r>
                <a:rPr lang="en-US" sz="1200">
                  <a:solidFill>
                    <a:srgbClr val="0F172A"/>
                  </a:solidFill>
                  <a:latin typeface="Inter"/>
                  <a:ea typeface="Inter"/>
                  <a:cs typeface="Inter"/>
                  <a:sym typeface="Inter"/>
                </a:rPr>
                <a:t>Mission replanning</a:t>
              </a:r>
              <a:endParaRPr sz="1200">
                <a:solidFill>
                  <a:srgbClr val="0F172A"/>
                </a:solidFill>
                <a:latin typeface="Inter"/>
                <a:ea typeface="Inter"/>
                <a:cs typeface="Inter"/>
                <a:sym typeface="Inter"/>
              </a:endParaRPr>
            </a:p>
            <a:p>
              <a:pPr indent="-304800" lvl="0" marL="457200" rtl="0" algn="l">
                <a:spcBef>
                  <a:spcPts val="600"/>
                </a:spcBef>
                <a:spcAft>
                  <a:spcPts val="0"/>
                </a:spcAft>
                <a:buClr>
                  <a:srgbClr val="0F172A"/>
                </a:buClr>
                <a:buSzPts val="1200"/>
                <a:buFont typeface="Inter"/>
                <a:buChar char="●"/>
              </a:pPr>
              <a:r>
                <a:rPr lang="en-US" sz="1200">
                  <a:solidFill>
                    <a:srgbClr val="0F172A"/>
                  </a:solidFill>
                  <a:latin typeface="Inter"/>
                  <a:ea typeface="Inter"/>
                  <a:cs typeface="Inter"/>
                  <a:sym typeface="Inter"/>
                </a:rPr>
                <a:t>Large-scale monitoring</a:t>
              </a:r>
              <a:endParaRPr sz="1200">
                <a:solidFill>
                  <a:srgbClr val="0F172A"/>
                </a:solidFill>
                <a:latin typeface="Inter"/>
                <a:ea typeface="Inter"/>
                <a:cs typeface="Inter"/>
                <a:sym typeface="Inter"/>
              </a:endParaRPr>
            </a:p>
          </p:txBody>
        </p:sp>
        <p:sp>
          <p:nvSpPr>
            <p:cNvPr id="373" name="Google Shape;373;p11"/>
            <p:cNvSpPr txBox="1"/>
            <p:nvPr/>
          </p:nvSpPr>
          <p:spPr>
            <a:xfrm>
              <a:off x="6667500" y="5381625"/>
              <a:ext cx="4572000" cy="1905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i="1" lang="en-US" sz="900">
                  <a:solidFill>
                    <a:srgbClr val="94A3B8"/>
                  </a:solidFill>
                  <a:latin typeface="Inter"/>
                  <a:ea typeface="Inter"/>
                  <a:cs typeface="Inter"/>
                  <a:sym typeface="Inter"/>
                </a:rPr>
                <a:t>Ex: wildlife monitoring and anti-poaching support</a:t>
              </a:r>
              <a:endParaRPr i="1" sz="900">
                <a:solidFill>
                  <a:srgbClr val="94A3B8"/>
                </a:solidFill>
                <a:latin typeface="Inter"/>
                <a:ea typeface="Inter"/>
                <a:cs typeface="Inter"/>
                <a:sym typeface="Inter"/>
              </a:endParaRPr>
            </a:p>
          </p:txBody>
        </p:sp>
      </p:grpSp>
      <p:grpSp>
        <p:nvGrpSpPr>
          <p:cNvPr id="374" name="Google Shape;374;p11"/>
          <p:cNvGrpSpPr/>
          <p:nvPr/>
        </p:nvGrpSpPr>
        <p:grpSpPr>
          <a:xfrm>
            <a:off x="571500" y="5905500"/>
            <a:ext cx="11049000" cy="619200"/>
            <a:chOff x="571500" y="5905500"/>
            <a:chExt cx="11049000" cy="619200"/>
          </a:xfrm>
        </p:grpSpPr>
        <p:sp>
          <p:nvSpPr>
            <p:cNvPr id="375" name="Google Shape;375;p11"/>
            <p:cNvSpPr/>
            <p:nvPr/>
          </p:nvSpPr>
          <p:spPr>
            <a:xfrm>
              <a:off x="571500" y="5905500"/>
              <a:ext cx="11049000" cy="619200"/>
            </a:xfrm>
            <a:prstGeom prst="roundRect">
              <a:avLst>
                <a:gd fmla="val 18461"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11"/>
            <p:cNvSpPr txBox="1"/>
            <p:nvPr/>
          </p:nvSpPr>
          <p:spPr>
            <a:xfrm>
              <a:off x="857250" y="5905500"/>
              <a:ext cx="17145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3B82F6"/>
                  </a:solidFill>
                  <a:latin typeface="Inter"/>
                  <a:ea typeface="Inter"/>
                  <a:cs typeface="Inter"/>
                  <a:sym typeface="Inter"/>
                </a:rPr>
                <a:t>SHARED VALIDATION GOAL</a:t>
              </a:r>
              <a:endParaRPr b="1" sz="1000">
                <a:solidFill>
                  <a:srgbClr val="3B82F6"/>
                </a:solidFill>
                <a:latin typeface="Inter"/>
                <a:ea typeface="Inter"/>
                <a:cs typeface="Inter"/>
                <a:sym typeface="Inter"/>
              </a:endParaRPr>
            </a:p>
          </p:txBody>
        </p:sp>
        <p:sp>
          <p:nvSpPr>
            <p:cNvPr id="377" name="Google Shape;377;p11"/>
            <p:cNvSpPr txBox="1"/>
            <p:nvPr/>
          </p:nvSpPr>
          <p:spPr>
            <a:xfrm>
              <a:off x="2571750" y="5905500"/>
              <a:ext cx="8763000" cy="619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700">
                  <a:solidFill>
                    <a:srgbClr val="FFFFFF"/>
                  </a:solidFill>
                  <a:latin typeface="Inter"/>
                  <a:ea typeface="Inter"/>
                  <a:cs typeface="Inter"/>
                  <a:sym typeface="Inter"/>
                </a:rPr>
                <a:t>Evaluate one autonomy framework across ground and aerial embodiments using comparable metrics.</a:t>
              </a:r>
              <a:endParaRPr b="1" sz="1700">
                <a:solidFill>
                  <a:srgbClr val="FFFFFF"/>
                </a:solidFill>
                <a:latin typeface="Inter"/>
                <a:ea typeface="Inter"/>
                <a:cs typeface="Inter"/>
                <a:sym typeface="Inter"/>
              </a:endParaRPr>
            </a:p>
          </p:txBody>
        </p:sp>
      </p:grpSp>
      <p:sp>
        <p:nvSpPr>
          <p:cNvPr id="378" name="Google Shape;378;p11"/>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g3ed5247b40f_7_728"/>
          <p:cNvSpPr/>
          <p:nvPr/>
        </p:nvSpPr>
        <p:spPr>
          <a:xfrm>
            <a:off x="571500" y="238125"/>
            <a:ext cx="4206300" cy="14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Inter"/>
                <a:ea typeface="Inter"/>
                <a:cs typeface="Inter"/>
                <a:sym typeface="Inter"/>
              </a:rPr>
              <a:t>ISMAELE CARBONARI · FBK 3DOM</a:t>
            </a:r>
            <a:endParaRPr b="1" sz="800">
              <a:solidFill>
                <a:srgbClr val="64748B"/>
              </a:solidFill>
              <a:latin typeface="Inter"/>
              <a:ea typeface="Inter"/>
              <a:cs typeface="Inter"/>
              <a:sym typeface="Inter"/>
            </a:endParaRPr>
          </a:p>
        </p:txBody>
      </p:sp>
      <p:sp>
        <p:nvSpPr>
          <p:cNvPr id="385" name="Google Shape;385;g3ed5247b40f_7_728"/>
          <p:cNvSpPr/>
          <p:nvPr/>
        </p:nvSpPr>
        <p:spPr>
          <a:xfrm>
            <a:off x="571500" y="523875"/>
            <a:ext cx="34746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1E40AF"/>
                </a:solidFill>
                <a:latin typeface="Inter"/>
                <a:ea typeface="Inter"/>
                <a:cs typeface="Inter"/>
                <a:sym typeface="Inter"/>
              </a:rPr>
              <a:t>LONG-TERM INTERESTS</a:t>
            </a:r>
            <a:endParaRPr b="1" sz="1000">
              <a:solidFill>
                <a:srgbClr val="1E40AF"/>
              </a:solidFill>
              <a:latin typeface="Inter"/>
              <a:ea typeface="Inter"/>
              <a:cs typeface="Inter"/>
              <a:sym typeface="Inter"/>
            </a:endParaRPr>
          </a:p>
        </p:txBody>
      </p:sp>
      <p:sp>
        <p:nvSpPr>
          <p:cNvPr id="386" name="Google Shape;386;g3ed5247b40f_7_728"/>
          <p:cNvSpPr/>
          <p:nvPr/>
        </p:nvSpPr>
        <p:spPr>
          <a:xfrm>
            <a:off x="571500" y="762000"/>
            <a:ext cx="108813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960">
                <a:solidFill>
                  <a:srgbClr val="0F172A"/>
                </a:solidFill>
                <a:latin typeface="Inter ExtraBold"/>
                <a:ea typeface="Inter ExtraBold"/>
                <a:cs typeface="Inter ExtraBold"/>
                <a:sym typeface="Inter ExtraBold"/>
              </a:rPr>
              <a:t>Toward collaborative field autonomy</a:t>
            </a:r>
            <a:endParaRPr b="0" sz="2960">
              <a:solidFill>
                <a:srgbClr val="0F172A"/>
              </a:solidFill>
              <a:latin typeface="Inter ExtraBold"/>
              <a:ea typeface="Inter ExtraBold"/>
              <a:cs typeface="Inter ExtraBold"/>
              <a:sym typeface="Inter ExtraBold"/>
            </a:endParaRPr>
          </a:p>
        </p:txBody>
      </p:sp>
      <p:sp>
        <p:nvSpPr>
          <p:cNvPr id="387" name="Google Shape;387;g3ed5247b40f_7_728"/>
          <p:cNvSpPr/>
          <p:nvPr/>
        </p:nvSpPr>
        <p:spPr>
          <a:xfrm>
            <a:off x="571500" y="1333500"/>
            <a:ext cx="10607100" cy="310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300">
                <a:solidFill>
                  <a:srgbClr val="475569"/>
                </a:solidFill>
                <a:latin typeface="Inter"/>
                <a:ea typeface="Inter"/>
                <a:cs typeface="Inter"/>
                <a:sym typeface="Inter"/>
              </a:rPr>
              <a:t>A progression from reliable navigation toward collaborative field autonomy</a:t>
            </a:r>
            <a:endParaRPr b="0" sz="1300">
              <a:solidFill>
                <a:srgbClr val="475569"/>
              </a:solidFill>
              <a:latin typeface="Inter"/>
              <a:ea typeface="Inter"/>
              <a:cs typeface="Inter"/>
              <a:sym typeface="Inter"/>
            </a:endParaRPr>
          </a:p>
        </p:txBody>
      </p:sp>
      <p:sp>
        <p:nvSpPr>
          <p:cNvPr id="388" name="Google Shape;388;g3ed5247b40f_7_728"/>
          <p:cNvSpPr/>
          <p:nvPr/>
        </p:nvSpPr>
        <p:spPr>
          <a:xfrm>
            <a:off x="571500" y="2000250"/>
            <a:ext cx="2000100" cy="1143000"/>
          </a:xfrm>
          <a:prstGeom prst="roundRect">
            <a:avLst>
              <a:gd fmla="val 10000" name="adj"/>
            </a:avLst>
          </a:prstGeom>
          <a:solidFill>
            <a:srgbClr val="EFF6FF"/>
          </a:solidFill>
          <a:ln cap="flat" cmpd="sng" w="19050">
            <a:solidFill>
              <a:srgbClr val="1E40A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g3ed5247b40f_7_728"/>
          <p:cNvSpPr/>
          <p:nvPr/>
        </p:nvSpPr>
        <p:spPr>
          <a:xfrm>
            <a:off x="714375" y="2095500"/>
            <a:ext cx="1714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1E3A8A"/>
                </a:solidFill>
                <a:latin typeface="Inter"/>
                <a:ea typeface="Inter"/>
                <a:cs typeface="Inter"/>
                <a:sym typeface="Inter"/>
              </a:rPr>
              <a:t>Autonomous Navigation</a:t>
            </a:r>
            <a:endParaRPr b="1" sz="1500">
              <a:solidFill>
                <a:srgbClr val="1E3A8A"/>
              </a:solidFill>
              <a:latin typeface="Inter"/>
              <a:ea typeface="Inter"/>
              <a:cs typeface="Inter"/>
              <a:sym typeface="Inter"/>
            </a:endParaRPr>
          </a:p>
        </p:txBody>
      </p:sp>
      <p:pic>
        <p:nvPicPr>
          <p:cNvPr id="390" name="Google Shape;390;g3ed5247b40f_7_728"/>
          <p:cNvPicPr preferRelativeResize="0"/>
          <p:nvPr/>
        </p:nvPicPr>
        <p:blipFill rotWithShape="1">
          <a:blip r:embed="rId4">
            <a:alphaModFix/>
          </a:blip>
          <a:srcRect b="0" l="0" r="0" t="0"/>
          <a:stretch/>
        </p:blipFill>
        <p:spPr>
          <a:xfrm>
            <a:off x="2564000" y="2475000"/>
            <a:ext cx="300000" cy="150000"/>
          </a:xfrm>
          <a:prstGeom prst="rect">
            <a:avLst/>
          </a:prstGeom>
          <a:noFill/>
          <a:ln>
            <a:noFill/>
          </a:ln>
        </p:spPr>
      </p:pic>
      <p:sp>
        <p:nvSpPr>
          <p:cNvPr id="391" name="Google Shape;391;g3ed5247b40f_7_728"/>
          <p:cNvSpPr/>
          <p:nvPr/>
        </p:nvSpPr>
        <p:spPr>
          <a:xfrm>
            <a:off x="571500" y="3190875"/>
            <a:ext cx="2000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00">
                <a:solidFill>
                  <a:srgbClr val="1E40AF"/>
                </a:solidFill>
                <a:latin typeface="Inter ExtraBold"/>
                <a:ea typeface="Inter ExtraBold"/>
                <a:cs typeface="Inter ExtraBold"/>
                <a:sym typeface="Inter ExtraBold"/>
              </a:rPr>
              <a:t>01</a:t>
            </a:r>
            <a:endParaRPr b="0" sz="900">
              <a:solidFill>
                <a:srgbClr val="1E40AF"/>
              </a:solidFill>
              <a:latin typeface="Inter ExtraBold"/>
              <a:ea typeface="Inter ExtraBold"/>
              <a:cs typeface="Inter ExtraBold"/>
              <a:sym typeface="Inter ExtraBold"/>
            </a:endParaRPr>
          </a:p>
        </p:txBody>
      </p:sp>
      <p:sp>
        <p:nvSpPr>
          <p:cNvPr id="392" name="Google Shape;392;g3ed5247b40f_7_728"/>
          <p:cNvSpPr/>
          <p:nvPr/>
        </p:nvSpPr>
        <p:spPr>
          <a:xfrm>
            <a:off x="2857500" y="2000250"/>
            <a:ext cx="2000100" cy="1143000"/>
          </a:xfrm>
          <a:prstGeom prst="roundRect">
            <a:avLst>
              <a:gd fmla="val 10000" name="adj"/>
            </a:avLst>
          </a:prstGeom>
          <a:solidFill>
            <a:srgbClr val="ECFDF5"/>
          </a:solidFill>
          <a:ln cap="flat" cmpd="sng" w="1905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g3ed5247b40f_7_728"/>
          <p:cNvSpPr/>
          <p:nvPr/>
        </p:nvSpPr>
        <p:spPr>
          <a:xfrm>
            <a:off x="3000375" y="2095500"/>
            <a:ext cx="1714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064E3B"/>
                </a:solidFill>
                <a:latin typeface="Inter"/>
                <a:ea typeface="Inter"/>
                <a:cs typeface="Inter"/>
                <a:sym typeface="Inter"/>
              </a:rPr>
              <a:t>SLAM &amp; Mapping</a:t>
            </a:r>
            <a:endParaRPr b="1" sz="1500">
              <a:solidFill>
                <a:srgbClr val="064E3B"/>
              </a:solidFill>
              <a:latin typeface="Inter"/>
              <a:ea typeface="Inter"/>
              <a:cs typeface="Inter"/>
              <a:sym typeface="Inter"/>
            </a:endParaRPr>
          </a:p>
        </p:txBody>
      </p:sp>
      <p:pic>
        <p:nvPicPr>
          <p:cNvPr id="394" name="Google Shape;394;g3ed5247b40f_7_728"/>
          <p:cNvPicPr preferRelativeResize="0"/>
          <p:nvPr/>
        </p:nvPicPr>
        <p:blipFill rotWithShape="1">
          <a:blip r:embed="rId4">
            <a:alphaModFix/>
          </a:blip>
          <a:srcRect b="0" l="0" r="0" t="0"/>
          <a:stretch/>
        </p:blipFill>
        <p:spPr>
          <a:xfrm>
            <a:off x="4850000" y="2475000"/>
            <a:ext cx="300000" cy="150000"/>
          </a:xfrm>
          <a:prstGeom prst="rect">
            <a:avLst/>
          </a:prstGeom>
          <a:noFill/>
          <a:ln>
            <a:noFill/>
          </a:ln>
        </p:spPr>
      </p:pic>
      <p:sp>
        <p:nvSpPr>
          <p:cNvPr id="395" name="Google Shape;395;g3ed5247b40f_7_728"/>
          <p:cNvSpPr/>
          <p:nvPr/>
        </p:nvSpPr>
        <p:spPr>
          <a:xfrm>
            <a:off x="2857500" y="3190875"/>
            <a:ext cx="2000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00">
                <a:solidFill>
                  <a:srgbClr val="059669"/>
                </a:solidFill>
                <a:latin typeface="Inter ExtraBold"/>
                <a:ea typeface="Inter ExtraBold"/>
                <a:cs typeface="Inter ExtraBold"/>
                <a:sym typeface="Inter ExtraBold"/>
              </a:rPr>
              <a:t>02</a:t>
            </a:r>
            <a:endParaRPr b="0" sz="900">
              <a:solidFill>
                <a:srgbClr val="059669"/>
              </a:solidFill>
              <a:latin typeface="Inter ExtraBold"/>
              <a:ea typeface="Inter ExtraBold"/>
              <a:cs typeface="Inter ExtraBold"/>
              <a:sym typeface="Inter ExtraBold"/>
            </a:endParaRPr>
          </a:p>
        </p:txBody>
      </p:sp>
      <p:sp>
        <p:nvSpPr>
          <p:cNvPr id="396" name="Google Shape;396;g3ed5247b40f_7_728"/>
          <p:cNvSpPr/>
          <p:nvPr/>
        </p:nvSpPr>
        <p:spPr>
          <a:xfrm>
            <a:off x="5143500" y="2000250"/>
            <a:ext cx="2000100" cy="1143000"/>
          </a:xfrm>
          <a:prstGeom prst="roundRect">
            <a:avLst>
              <a:gd fmla="val 10000" name="adj"/>
            </a:avLst>
          </a:prstGeom>
          <a:solidFill>
            <a:srgbClr val="FFF7ED"/>
          </a:solidFill>
          <a:ln cap="flat" cmpd="sng" w="19050">
            <a:solidFill>
              <a:srgbClr val="EA580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7" name="Google Shape;397;g3ed5247b40f_7_728"/>
          <p:cNvSpPr/>
          <p:nvPr/>
        </p:nvSpPr>
        <p:spPr>
          <a:xfrm>
            <a:off x="5286375" y="2095500"/>
            <a:ext cx="1714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7C2D12"/>
                </a:solidFill>
                <a:latin typeface="Inter"/>
                <a:ea typeface="Inter"/>
                <a:cs typeface="Inter"/>
                <a:sym typeface="Inter"/>
              </a:rPr>
              <a:t>GNSS-denied Robotics</a:t>
            </a:r>
            <a:endParaRPr b="1" sz="1500">
              <a:solidFill>
                <a:srgbClr val="7C2D12"/>
              </a:solidFill>
              <a:latin typeface="Inter"/>
              <a:ea typeface="Inter"/>
              <a:cs typeface="Inter"/>
              <a:sym typeface="Inter"/>
            </a:endParaRPr>
          </a:p>
        </p:txBody>
      </p:sp>
      <p:pic>
        <p:nvPicPr>
          <p:cNvPr id="398" name="Google Shape;398;g3ed5247b40f_7_728"/>
          <p:cNvPicPr preferRelativeResize="0"/>
          <p:nvPr/>
        </p:nvPicPr>
        <p:blipFill rotWithShape="1">
          <a:blip r:embed="rId4">
            <a:alphaModFix/>
          </a:blip>
          <a:srcRect b="0" l="0" r="0" t="0"/>
          <a:stretch/>
        </p:blipFill>
        <p:spPr>
          <a:xfrm>
            <a:off x="7136000" y="2475000"/>
            <a:ext cx="300000" cy="150000"/>
          </a:xfrm>
          <a:prstGeom prst="rect">
            <a:avLst/>
          </a:prstGeom>
          <a:noFill/>
          <a:ln>
            <a:noFill/>
          </a:ln>
        </p:spPr>
      </p:pic>
      <p:sp>
        <p:nvSpPr>
          <p:cNvPr id="399" name="Google Shape;399;g3ed5247b40f_7_728"/>
          <p:cNvSpPr/>
          <p:nvPr/>
        </p:nvSpPr>
        <p:spPr>
          <a:xfrm>
            <a:off x="5143500" y="3190875"/>
            <a:ext cx="2000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00">
                <a:solidFill>
                  <a:srgbClr val="EA580C"/>
                </a:solidFill>
                <a:latin typeface="Inter ExtraBold"/>
                <a:ea typeface="Inter ExtraBold"/>
                <a:cs typeface="Inter ExtraBold"/>
                <a:sym typeface="Inter ExtraBold"/>
              </a:rPr>
              <a:t>03</a:t>
            </a:r>
            <a:endParaRPr b="0" sz="900">
              <a:solidFill>
                <a:srgbClr val="EA580C"/>
              </a:solidFill>
              <a:latin typeface="Inter ExtraBold"/>
              <a:ea typeface="Inter ExtraBold"/>
              <a:cs typeface="Inter ExtraBold"/>
              <a:sym typeface="Inter ExtraBold"/>
            </a:endParaRPr>
          </a:p>
        </p:txBody>
      </p:sp>
      <p:sp>
        <p:nvSpPr>
          <p:cNvPr id="400" name="Google Shape;400;g3ed5247b40f_7_728"/>
          <p:cNvSpPr/>
          <p:nvPr/>
        </p:nvSpPr>
        <p:spPr>
          <a:xfrm>
            <a:off x="7429500" y="2000250"/>
            <a:ext cx="2000100" cy="1143000"/>
          </a:xfrm>
          <a:prstGeom prst="roundRect">
            <a:avLst>
              <a:gd fmla="val 10000" name="adj"/>
            </a:avLst>
          </a:prstGeom>
          <a:solidFill>
            <a:srgbClr val="EFF6FF"/>
          </a:solidFill>
          <a:ln cap="flat" cmpd="sng" w="1905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g3ed5247b40f_7_728"/>
          <p:cNvSpPr/>
          <p:nvPr/>
        </p:nvSpPr>
        <p:spPr>
          <a:xfrm>
            <a:off x="7572375" y="2095500"/>
            <a:ext cx="1714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1E3A8A"/>
                </a:solidFill>
                <a:latin typeface="Inter"/>
                <a:ea typeface="Inter"/>
                <a:cs typeface="Inter"/>
                <a:sym typeface="Inter"/>
              </a:rPr>
              <a:t>Field Robotics</a:t>
            </a:r>
            <a:endParaRPr b="1" sz="1500">
              <a:solidFill>
                <a:srgbClr val="1E3A8A"/>
              </a:solidFill>
              <a:latin typeface="Inter"/>
              <a:ea typeface="Inter"/>
              <a:cs typeface="Inter"/>
              <a:sym typeface="Inter"/>
            </a:endParaRPr>
          </a:p>
        </p:txBody>
      </p:sp>
      <p:sp>
        <p:nvSpPr>
          <p:cNvPr id="403" name="Google Shape;403;g3ed5247b40f_7_728"/>
          <p:cNvSpPr/>
          <p:nvPr/>
        </p:nvSpPr>
        <p:spPr>
          <a:xfrm>
            <a:off x="7429500" y="3190875"/>
            <a:ext cx="2000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00">
                <a:solidFill>
                  <a:srgbClr val="2563EB"/>
                </a:solidFill>
                <a:latin typeface="Inter ExtraBold"/>
                <a:ea typeface="Inter ExtraBold"/>
                <a:cs typeface="Inter ExtraBold"/>
                <a:sym typeface="Inter ExtraBold"/>
              </a:rPr>
              <a:t>04</a:t>
            </a:r>
            <a:endParaRPr b="0" sz="900">
              <a:solidFill>
                <a:srgbClr val="2563EB"/>
              </a:solidFill>
              <a:latin typeface="Inter ExtraBold"/>
              <a:ea typeface="Inter ExtraBold"/>
              <a:cs typeface="Inter ExtraBold"/>
              <a:sym typeface="Inter ExtraBold"/>
            </a:endParaRPr>
          </a:p>
        </p:txBody>
      </p:sp>
      <p:sp>
        <p:nvSpPr>
          <p:cNvPr id="404" name="Google Shape;404;g3ed5247b40f_7_728"/>
          <p:cNvSpPr/>
          <p:nvPr/>
        </p:nvSpPr>
        <p:spPr>
          <a:xfrm>
            <a:off x="9715500" y="2000250"/>
            <a:ext cx="2000100" cy="1143000"/>
          </a:xfrm>
          <a:prstGeom prst="roundRect">
            <a:avLst>
              <a:gd fmla="val 10000" name="adj"/>
            </a:avLst>
          </a:prstGeom>
          <a:solidFill>
            <a:srgbClr val="F8FAFC"/>
          </a:solidFill>
          <a:ln cap="flat" cmpd="sng" w="19050">
            <a:solidFill>
              <a:srgbClr val="64748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g3ed5247b40f_7_728"/>
          <p:cNvSpPr/>
          <p:nvPr/>
        </p:nvSpPr>
        <p:spPr>
          <a:xfrm>
            <a:off x="9858375" y="2095500"/>
            <a:ext cx="1714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500">
                <a:solidFill>
                  <a:srgbClr val="334155"/>
                </a:solidFill>
                <a:latin typeface="Inter"/>
                <a:ea typeface="Inter"/>
                <a:cs typeface="Inter"/>
                <a:sym typeface="Inter"/>
              </a:rPr>
              <a:t>Multi-Robot Systems</a:t>
            </a:r>
            <a:endParaRPr b="1" sz="1500">
              <a:solidFill>
                <a:srgbClr val="334155"/>
              </a:solidFill>
              <a:latin typeface="Inter"/>
              <a:ea typeface="Inter"/>
              <a:cs typeface="Inter"/>
              <a:sym typeface="Inter"/>
            </a:endParaRPr>
          </a:p>
        </p:txBody>
      </p:sp>
      <p:sp>
        <p:nvSpPr>
          <p:cNvPr id="406" name="Google Shape;406;g3ed5247b40f_7_728"/>
          <p:cNvSpPr/>
          <p:nvPr/>
        </p:nvSpPr>
        <p:spPr>
          <a:xfrm>
            <a:off x="9715500" y="3190875"/>
            <a:ext cx="2000100" cy="190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00">
                <a:solidFill>
                  <a:srgbClr val="64748B"/>
                </a:solidFill>
                <a:latin typeface="Inter ExtraBold"/>
                <a:ea typeface="Inter ExtraBold"/>
                <a:cs typeface="Inter ExtraBold"/>
                <a:sym typeface="Inter ExtraBold"/>
              </a:rPr>
              <a:t>05</a:t>
            </a:r>
            <a:endParaRPr b="0" sz="900">
              <a:solidFill>
                <a:srgbClr val="64748B"/>
              </a:solidFill>
              <a:latin typeface="Inter ExtraBold"/>
              <a:ea typeface="Inter ExtraBold"/>
              <a:cs typeface="Inter ExtraBold"/>
              <a:sym typeface="Inter ExtraBold"/>
            </a:endParaRPr>
          </a:p>
        </p:txBody>
      </p:sp>
      <p:sp>
        <p:nvSpPr>
          <p:cNvPr id="407" name="Google Shape;407;g3ed5247b40f_7_728"/>
          <p:cNvSpPr/>
          <p:nvPr/>
        </p:nvSpPr>
        <p:spPr>
          <a:xfrm>
            <a:off x="2918398" y="5334000"/>
            <a:ext cx="6355200" cy="2013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64748B"/>
                </a:solidFill>
                <a:latin typeface="Inter"/>
                <a:ea typeface="Inter"/>
                <a:cs typeface="Inter"/>
                <a:sym typeface="Inter"/>
              </a:rPr>
              <a:t>ENABLING TECHNOLOGIES SUPPORT THE FULL PROGRESSION</a:t>
            </a:r>
            <a:endParaRPr b="1" sz="1000">
              <a:solidFill>
                <a:srgbClr val="64748B"/>
              </a:solidFill>
              <a:latin typeface="Inter"/>
              <a:ea typeface="Inter"/>
              <a:cs typeface="Inter"/>
              <a:sym typeface="Inter"/>
            </a:endParaRPr>
          </a:p>
        </p:txBody>
      </p:sp>
      <p:pic>
        <p:nvPicPr>
          <p:cNvPr id="408" name="Google Shape;408;g3ed5247b40f_7_728"/>
          <p:cNvPicPr preferRelativeResize="0"/>
          <p:nvPr/>
        </p:nvPicPr>
        <p:blipFill rotWithShape="1">
          <a:blip r:embed="rId5">
            <a:alphaModFix/>
          </a:blip>
          <a:srcRect b="0" l="0" r="0" t="0"/>
          <a:stretch/>
        </p:blipFill>
        <p:spPr>
          <a:xfrm flipH="1" rot="10800000">
            <a:off x="1571625" y="3881075"/>
            <a:ext cx="9144000" cy="19200"/>
          </a:xfrm>
          <a:prstGeom prst="rect">
            <a:avLst/>
          </a:prstGeom>
          <a:noFill/>
          <a:ln>
            <a:noFill/>
          </a:ln>
        </p:spPr>
      </p:pic>
      <p:sp>
        <p:nvSpPr>
          <p:cNvPr id="409" name="Google Shape;409;g3ed5247b40f_7_728"/>
          <p:cNvSpPr/>
          <p:nvPr/>
        </p:nvSpPr>
        <p:spPr>
          <a:xfrm>
            <a:off x="3333750" y="4191000"/>
            <a:ext cx="2476500" cy="952500"/>
          </a:xfrm>
          <a:prstGeom prst="roundRect">
            <a:avLst>
              <a:gd fmla="val 12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0" name="Google Shape;410;g3ed5247b40f_7_728"/>
          <p:cNvSpPr/>
          <p:nvPr/>
        </p:nvSpPr>
        <p:spPr>
          <a:xfrm>
            <a:off x="3429000" y="4286250"/>
            <a:ext cx="2286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0F172A"/>
                </a:solidFill>
                <a:latin typeface="Inter"/>
                <a:ea typeface="Inter"/>
                <a:cs typeface="Inter"/>
                <a:sym typeface="Inter"/>
              </a:rPr>
              <a:t>Computer Vision</a:t>
            </a:r>
            <a:endParaRPr b="1" sz="1400">
              <a:solidFill>
                <a:srgbClr val="0F172A"/>
              </a:solidFill>
              <a:latin typeface="Inter"/>
              <a:ea typeface="Inter"/>
              <a:cs typeface="Inter"/>
              <a:sym typeface="Inter"/>
            </a:endParaRPr>
          </a:p>
        </p:txBody>
      </p:sp>
      <p:sp>
        <p:nvSpPr>
          <p:cNvPr id="411" name="Google Shape;411;g3ed5247b40f_7_728"/>
          <p:cNvSpPr/>
          <p:nvPr/>
        </p:nvSpPr>
        <p:spPr>
          <a:xfrm>
            <a:off x="3429000" y="4572000"/>
            <a:ext cx="2286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000">
                <a:solidFill>
                  <a:srgbClr val="64748B"/>
                </a:solidFill>
                <a:latin typeface="Inter"/>
                <a:ea typeface="Inter"/>
                <a:cs typeface="Inter"/>
                <a:sym typeface="Inter"/>
              </a:rPr>
              <a:t>semantic and visual cues</a:t>
            </a:r>
            <a:endParaRPr b="0" sz="1000">
              <a:solidFill>
                <a:srgbClr val="64748B"/>
              </a:solidFill>
              <a:latin typeface="Inter"/>
              <a:ea typeface="Inter"/>
              <a:cs typeface="Inter"/>
              <a:sym typeface="Inter"/>
            </a:endParaRPr>
          </a:p>
        </p:txBody>
      </p:sp>
      <p:sp>
        <p:nvSpPr>
          <p:cNvPr id="412" name="Google Shape;412;g3ed5247b40f_7_728"/>
          <p:cNvSpPr/>
          <p:nvPr/>
        </p:nvSpPr>
        <p:spPr>
          <a:xfrm>
            <a:off x="6381750" y="4191000"/>
            <a:ext cx="2476500" cy="952500"/>
          </a:xfrm>
          <a:prstGeom prst="roundRect">
            <a:avLst>
              <a:gd fmla="val 12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g3ed5247b40f_7_728"/>
          <p:cNvSpPr/>
          <p:nvPr/>
        </p:nvSpPr>
        <p:spPr>
          <a:xfrm>
            <a:off x="6477000" y="4286250"/>
            <a:ext cx="2286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0F172A"/>
                </a:solidFill>
                <a:latin typeface="Inter"/>
                <a:ea typeface="Inter"/>
                <a:cs typeface="Inter"/>
                <a:sym typeface="Inter"/>
              </a:rPr>
              <a:t>3D Perception</a:t>
            </a:r>
            <a:endParaRPr b="1" sz="1400">
              <a:solidFill>
                <a:srgbClr val="0F172A"/>
              </a:solidFill>
              <a:latin typeface="Inter"/>
              <a:ea typeface="Inter"/>
              <a:cs typeface="Inter"/>
              <a:sym typeface="Inter"/>
            </a:endParaRPr>
          </a:p>
        </p:txBody>
      </p:sp>
      <p:sp>
        <p:nvSpPr>
          <p:cNvPr id="414" name="Google Shape;414;g3ed5247b40f_7_728"/>
          <p:cNvSpPr/>
          <p:nvPr/>
        </p:nvSpPr>
        <p:spPr>
          <a:xfrm>
            <a:off x="6477000" y="4572000"/>
            <a:ext cx="2286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US" sz="1000">
                <a:solidFill>
                  <a:srgbClr val="64748B"/>
                </a:solidFill>
                <a:latin typeface="Inter"/>
                <a:ea typeface="Inter"/>
                <a:cs typeface="Inter"/>
                <a:sym typeface="Inter"/>
              </a:rPr>
              <a:t>geometry and spatial context</a:t>
            </a:r>
            <a:endParaRPr b="0" sz="1000">
              <a:solidFill>
                <a:srgbClr val="64748B"/>
              </a:solidFill>
              <a:latin typeface="Inter"/>
              <a:ea typeface="Inter"/>
              <a:cs typeface="Inter"/>
              <a:sym typeface="Inter"/>
            </a:endParaRPr>
          </a:p>
        </p:txBody>
      </p:sp>
      <p:pic>
        <p:nvPicPr>
          <p:cNvPr id="415" name="Google Shape;415;g3ed5247b40f_7_728"/>
          <p:cNvPicPr preferRelativeResize="0"/>
          <p:nvPr/>
        </p:nvPicPr>
        <p:blipFill rotWithShape="1">
          <a:blip r:embed="rId6">
            <a:alphaModFix/>
          </a:blip>
          <a:srcRect b="0" l="0" r="0" t="0"/>
          <a:stretch/>
        </p:blipFill>
        <p:spPr>
          <a:xfrm>
            <a:off x="4562475" y="3905250"/>
            <a:ext cx="19200" cy="285900"/>
          </a:xfrm>
          <a:prstGeom prst="rect">
            <a:avLst/>
          </a:prstGeom>
          <a:noFill/>
          <a:ln>
            <a:noFill/>
          </a:ln>
        </p:spPr>
      </p:pic>
      <p:pic>
        <p:nvPicPr>
          <p:cNvPr id="416" name="Google Shape;416;g3ed5247b40f_7_728"/>
          <p:cNvPicPr preferRelativeResize="0"/>
          <p:nvPr/>
        </p:nvPicPr>
        <p:blipFill rotWithShape="1">
          <a:blip r:embed="rId6">
            <a:alphaModFix/>
          </a:blip>
          <a:srcRect b="0" l="0" r="0" t="0"/>
          <a:stretch/>
        </p:blipFill>
        <p:spPr>
          <a:xfrm>
            <a:off x="7610475" y="3905250"/>
            <a:ext cx="19200" cy="285900"/>
          </a:xfrm>
          <a:prstGeom prst="rect">
            <a:avLst/>
          </a:prstGeom>
          <a:noFill/>
          <a:ln>
            <a:noFill/>
          </a:ln>
        </p:spPr>
      </p:pic>
      <p:pic>
        <p:nvPicPr>
          <p:cNvPr id="417" name="Google Shape;417;g3ed5247b40f_7_728"/>
          <p:cNvPicPr preferRelativeResize="0"/>
          <p:nvPr/>
        </p:nvPicPr>
        <p:blipFill rotWithShape="1">
          <a:blip r:embed="rId7">
            <a:alphaModFix/>
          </a:blip>
          <a:srcRect b="0" l="0" r="0" t="0"/>
          <a:stretch/>
        </p:blipFill>
        <p:spPr>
          <a:xfrm>
            <a:off x="1562100" y="3429000"/>
            <a:ext cx="19200" cy="476400"/>
          </a:xfrm>
          <a:prstGeom prst="rect">
            <a:avLst/>
          </a:prstGeom>
          <a:noFill/>
          <a:ln>
            <a:noFill/>
          </a:ln>
        </p:spPr>
      </p:pic>
      <p:pic>
        <p:nvPicPr>
          <p:cNvPr id="418" name="Google Shape;418;g3ed5247b40f_7_728"/>
          <p:cNvPicPr preferRelativeResize="0"/>
          <p:nvPr/>
        </p:nvPicPr>
        <p:blipFill rotWithShape="1">
          <a:blip r:embed="rId7">
            <a:alphaModFix/>
          </a:blip>
          <a:srcRect b="0" l="0" r="0" t="0"/>
          <a:stretch/>
        </p:blipFill>
        <p:spPr>
          <a:xfrm>
            <a:off x="6134100" y="3429000"/>
            <a:ext cx="19200" cy="476400"/>
          </a:xfrm>
          <a:prstGeom prst="rect">
            <a:avLst/>
          </a:prstGeom>
          <a:noFill/>
          <a:ln>
            <a:noFill/>
          </a:ln>
        </p:spPr>
      </p:pic>
      <p:sp>
        <p:nvSpPr>
          <p:cNvPr id="419" name="Google Shape;419;g3ed5247b40f_7_728"/>
          <p:cNvSpPr txBox="1"/>
          <p:nvPr>
            <p:ph idx="4294967295" type="sldNum"/>
          </p:nvPr>
        </p:nvSpPr>
        <p:spPr>
          <a:xfrm>
            <a:off x="11247120" y="6537960"/>
            <a:ext cx="411600" cy="1647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800" u="none" cap="none" strike="noStrike">
                <a:solidFill>
                  <a:srgbClr val="6F8193"/>
                </a:solidFill>
                <a:latin typeface="Arial"/>
                <a:ea typeface="Arial"/>
                <a:cs typeface="Arial"/>
                <a:sym typeface="Arial"/>
              </a:rPr>
              <a:t>‹#›</a:t>
            </a:fld>
            <a:endParaRPr b="0" i="0" sz="800" u="none" cap="none" strike="noStrike">
              <a:solidFill>
                <a:srgbClr val="6F8193"/>
              </a:solidFill>
              <a:latin typeface="Arial"/>
              <a:ea typeface="Arial"/>
              <a:cs typeface="Arial"/>
              <a:sym typeface="Arial"/>
            </a:endParaRPr>
          </a:p>
        </p:txBody>
      </p:sp>
      <p:sp>
        <p:nvSpPr>
          <p:cNvPr id="420" name="Google Shape;420;g3ed5247b40f_7_728"/>
          <p:cNvSpPr/>
          <p:nvPr/>
        </p:nvSpPr>
        <p:spPr>
          <a:xfrm>
            <a:off x="571500" y="5905500"/>
            <a:ext cx="11049000" cy="571500"/>
          </a:xfrm>
          <a:prstGeom prst="roundRect">
            <a:avLst>
              <a:gd fmla="val 2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g3ed5247b40f_7_728"/>
          <p:cNvSpPr/>
          <p:nvPr/>
        </p:nvSpPr>
        <p:spPr>
          <a:xfrm>
            <a:off x="762000" y="6000750"/>
            <a:ext cx="10668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Inter"/>
                <a:ea typeface="Inter"/>
                <a:cs typeface="Inter"/>
                <a:sym typeface="Inter"/>
              </a:rPr>
              <a:t>Goal: transferable autonomy that becomes progressively more spatially aware and collaborative.</a:t>
            </a:r>
            <a:endParaRPr b="1" sz="1400">
              <a:solidFill>
                <a:srgbClr val="FFFFFF"/>
              </a:solidFill>
              <a:latin typeface="Inter"/>
              <a:ea typeface="Inter"/>
              <a:cs typeface="Inter"/>
              <a:sym typeface="Inter"/>
            </a:endParaRPr>
          </a:p>
        </p:txBody>
      </p:sp>
      <p:cxnSp>
        <p:nvCxnSpPr>
          <p:cNvPr id="422" name="Google Shape;422;g3ed5247b40f_7_728"/>
          <p:cNvCxnSpPr/>
          <p:nvPr/>
        </p:nvCxnSpPr>
        <p:spPr>
          <a:xfrm>
            <a:off x="10715549" y="2562225"/>
            <a:ext cx="285900" cy="0"/>
          </a:xfrm>
          <a:prstGeom prst="straightConnector1">
            <a:avLst/>
          </a:prstGeom>
          <a:solidFill>
            <a:srgbClr val="FFFFFF"/>
          </a:solidFill>
          <a:ln cap="flat" cmpd="sng" w="19050">
            <a:solidFill>
              <a:srgbClr val="64748B"/>
            </a:solidFill>
            <a:prstDash val="solid"/>
            <a:round/>
            <a:headEnd len="sm" w="sm" type="none"/>
            <a:tailEnd len="sm" w="sm" type="none"/>
          </a:ln>
        </p:spPr>
      </p:cxnSp>
      <p:cxnSp>
        <p:nvCxnSpPr>
          <p:cNvPr id="423" name="Google Shape;423;g3ed5247b40f_7_728"/>
          <p:cNvCxnSpPr/>
          <p:nvPr/>
        </p:nvCxnSpPr>
        <p:spPr>
          <a:xfrm>
            <a:off x="10714250" y="3401775"/>
            <a:ext cx="1500" cy="498600"/>
          </a:xfrm>
          <a:prstGeom prst="straightConnector1">
            <a:avLst/>
          </a:prstGeom>
          <a:solidFill>
            <a:srgbClr val="FFFFFF"/>
          </a:solidFill>
          <a:ln cap="flat" cmpd="sng" w="14300">
            <a:solidFill>
              <a:srgbClr val="64748B"/>
            </a:solidFill>
            <a:prstDash val="solid"/>
            <a:round/>
            <a:headEnd len="sm" w="sm" type="none"/>
            <a:tailEnd len="sm" w="sm" type="none"/>
          </a:ln>
        </p:spPr>
      </p:cxnSp>
      <p:cxnSp>
        <p:nvCxnSpPr>
          <p:cNvPr id="424" name="Google Shape;424;g3ed5247b40f_7_728"/>
          <p:cNvCxnSpPr>
            <a:stCxn id="408" idx="3"/>
            <a:endCxn id="406" idx="2"/>
          </p:cNvCxnSpPr>
          <p:nvPr/>
        </p:nvCxnSpPr>
        <p:spPr>
          <a:xfrm rot="10800000">
            <a:off x="10715625" y="3381275"/>
            <a:ext cx="0" cy="509400"/>
          </a:xfrm>
          <a:prstGeom prst="straightConnector1">
            <a:avLst/>
          </a:prstGeom>
          <a:solidFill>
            <a:srgbClr val="FFFFFF"/>
          </a:solidFill>
          <a:ln cap="flat" cmpd="sng" w="14300">
            <a:solidFill>
              <a:srgbClr val="64748B"/>
            </a:solidFill>
            <a:prstDash val="solid"/>
            <a:round/>
            <a:headEnd len="med" w="med" type="none"/>
            <a:tailEnd len="med" w="med" type="triangle"/>
          </a:ln>
        </p:spPr>
      </p:cxnSp>
      <p:cxnSp>
        <p:nvCxnSpPr>
          <p:cNvPr id="425" name="Google Shape;425;g3ed5247b40f_7_728"/>
          <p:cNvCxnSpPr>
            <a:stCxn id="417" idx="2"/>
            <a:endCxn id="417" idx="0"/>
          </p:cNvCxnSpPr>
          <p:nvPr/>
        </p:nvCxnSpPr>
        <p:spPr>
          <a:xfrm rot="10800000">
            <a:off x="1571700" y="3429000"/>
            <a:ext cx="0" cy="476400"/>
          </a:xfrm>
          <a:prstGeom prst="straightConnector1">
            <a:avLst/>
          </a:prstGeom>
          <a:noFill/>
          <a:ln cap="flat" cmpd="sng" w="9525">
            <a:solidFill>
              <a:schemeClr val="dk2"/>
            </a:solidFill>
            <a:prstDash val="solid"/>
            <a:round/>
            <a:headEnd len="med" w="med" type="none"/>
            <a:tailEnd len="med" w="med" type="triangle"/>
          </a:ln>
        </p:spPr>
      </p:cxnSp>
      <p:pic>
        <p:nvPicPr>
          <p:cNvPr id="991" name="Progression Arrow 4"/>
          <p:cNvPicPr>
            <a:picLocks noChangeAspect="1"/>
          </p:cNvPicPr>
          <p:nvPr/>
        </p:nvPicPr>
        <p:blipFill>
          <a:blip r:embed="rId4">
            <a:alphaModFix/>
          </a:blip>
          <a:stretch>
            <a:fillRect/>
          </a:stretch>
        </p:blipFill>
        <p:spPr>
          <a:xfrm>
            <a:off x="9422000" y="2475000"/>
            <a:ext cx="300000" cy="15000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0" name="Shape 430"/>
        <p:cNvGrpSpPr/>
        <p:nvPr/>
      </p:nvGrpSpPr>
      <p:grpSpPr>
        <a:xfrm>
          <a:off x="0" y="0"/>
          <a:ext cx="0" cy="0"/>
          <a:chOff x="0" y="0"/>
          <a:chExt cx="0" cy="0"/>
        </a:xfrm>
      </p:grpSpPr>
      <p:sp>
        <p:nvSpPr>
          <p:cNvPr id="431" name="Google Shape;431;p13"/>
          <p:cNvSpPr/>
          <p:nvPr/>
        </p:nvSpPr>
        <p:spPr>
          <a:xfrm>
            <a:off x="571500" y="285750"/>
            <a:ext cx="2011800" cy="2196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000">
                <a:solidFill>
                  <a:srgbClr val="1E40AF"/>
                </a:solidFill>
                <a:latin typeface="Inter"/>
                <a:ea typeface="Inter"/>
                <a:cs typeface="Inter"/>
                <a:sym typeface="Inter"/>
              </a:rPr>
              <a:t>DISCUSSION</a:t>
            </a:r>
            <a:endParaRPr b="1" sz="1000">
              <a:solidFill>
                <a:srgbClr val="1E40AF"/>
              </a:solidFill>
              <a:latin typeface="Inter"/>
              <a:ea typeface="Inter"/>
              <a:cs typeface="Inter"/>
              <a:sym typeface="Inter"/>
            </a:endParaRPr>
          </a:p>
        </p:txBody>
      </p:sp>
      <p:sp>
        <p:nvSpPr>
          <p:cNvPr id="432" name="Google Shape;432;p13"/>
          <p:cNvSpPr/>
          <p:nvPr/>
        </p:nvSpPr>
        <p:spPr>
          <a:xfrm>
            <a:off x="571500" y="571500"/>
            <a:ext cx="5238900" cy="1143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3200">
                <a:solidFill>
                  <a:srgbClr val="0F172A"/>
                </a:solidFill>
                <a:latin typeface="Inter ExtraBold"/>
                <a:ea typeface="Inter ExtraBold"/>
                <a:cs typeface="Inter ExtraBold"/>
                <a:sym typeface="Inter ExtraBold"/>
              </a:rPr>
              <a:t>Platforms change.</a:t>
            </a:r>
            <a:endParaRPr b="0" sz="3200">
              <a:solidFill>
                <a:srgbClr val="0F172A"/>
              </a:solidFill>
              <a:latin typeface="Inter ExtraBold"/>
              <a:ea typeface="Inter ExtraBold"/>
              <a:cs typeface="Inter ExtraBold"/>
              <a:sym typeface="Inter ExtraBold"/>
            </a:endParaRPr>
          </a:p>
          <a:p>
            <a:pPr indent="0" lvl="0" marL="0" rtl="0" algn="l">
              <a:spcBef>
                <a:spcPts val="0"/>
              </a:spcBef>
              <a:spcAft>
                <a:spcPts val="0"/>
              </a:spcAft>
              <a:buNone/>
            </a:pPr>
            <a:r>
              <a:rPr b="0" lang="en-US" sz="3200">
                <a:solidFill>
                  <a:srgbClr val="1E40AF"/>
                </a:solidFill>
                <a:latin typeface="Inter ExtraBold"/>
                <a:ea typeface="Inter ExtraBold"/>
                <a:cs typeface="Inter ExtraBold"/>
                <a:sym typeface="Inter ExtraBold"/>
              </a:rPr>
              <a:t>The framework evolves.</a:t>
            </a:r>
            <a:endParaRPr b="0" sz="3200">
              <a:solidFill>
                <a:srgbClr val="1E40AF"/>
              </a:solidFill>
              <a:latin typeface="Inter ExtraBold"/>
              <a:ea typeface="Inter ExtraBold"/>
              <a:cs typeface="Inter ExtraBold"/>
              <a:sym typeface="Inter ExtraBold"/>
            </a:endParaRPr>
          </a:p>
        </p:txBody>
      </p:sp>
      <p:sp>
        <p:nvSpPr>
          <p:cNvPr id="433" name="Google Shape;433;p13"/>
          <p:cNvSpPr/>
          <p:nvPr/>
        </p:nvSpPr>
        <p:spPr>
          <a:xfrm>
            <a:off x="571500" y="1809750"/>
            <a:ext cx="4572000" cy="1143000"/>
          </a:xfrm>
          <a:prstGeom prst="rect">
            <a:avLst/>
          </a:prstGeom>
          <a:solidFill>
            <a:srgbClr val="000000">
              <a:alpha val="0"/>
            </a:srgbClr>
          </a:solidFill>
          <a:ln>
            <a:noFill/>
          </a:ln>
        </p:spPr>
        <p:txBody>
          <a:bodyPr anchorCtr="0" anchor="t" bIns="0" lIns="0" spcFirstLastPara="1" rIns="0" wrap="square" tIns="0">
            <a:normAutofit/>
          </a:bodyPr>
          <a:lstStyle/>
          <a:p>
            <a:pPr indent="0" lvl="0" marL="0" rtl="0" algn="l">
              <a:spcBef>
                <a:spcPts val="0"/>
              </a:spcBef>
              <a:spcAft>
                <a:spcPts val="0"/>
              </a:spcAft>
              <a:buNone/>
            </a:pPr>
            <a:r>
              <a:rPr b="0" lang="en-US" sz="1400">
                <a:solidFill>
                  <a:srgbClr val="475569"/>
                </a:solidFill>
                <a:latin typeface="Inter"/>
                <a:ea typeface="Inter"/>
                <a:cs typeface="Inter"/>
                <a:sym typeface="Inter"/>
              </a:rPr>
              <a:t>The main outcome of my thesis is not a specific robot, but a </a:t>
            </a:r>
            <a:r>
              <a:rPr b="1" lang="en-US" sz="1400">
                <a:solidFill>
                  <a:srgbClr val="0F172A"/>
                </a:solidFill>
                <a:latin typeface="Inter"/>
                <a:ea typeface="Inter"/>
                <a:cs typeface="Inter"/>
                <a:sym typeface="Inter"/>
              </a:rPr>
              <a:t>modular navigation and validation framework</a:t>
            </a:r>
            <a:r>
              <a:rPr b="0" lang="en-US" sz="1400">
                <a:solidFill>
                  <a:srgbClr val="475569"/>
                </a:solidFill>
                <a:latin typeface="Inter"/>
                <a:ea typeface="Inter"/>
                <a:cs typeface="Inter"/>
                <a:sym typeface="Inter"/>
              </a:rPr>
              <a:t> that can be transferred across heterogeneous robotic platforms.</a:t>
            </a:r>
            <a:endParaRPr b="0" sz="1400">
              <a:solidFill>
                <a:srgbClr val="475569"/>
              </a:solidFill>
              <a:latin typeface="Inter"/>
              <a:ea typeface="Inter"/>
              <a:cs typeface="Inter"/>
              <a:sym typeface="Inter"/>
            </a:endParaRPr>
          </a:p>
        </p:txBody>
      </p:sp>
      <p:sp>
        <p:nvSpPr>
          <p:cNvPr id="434" name="Google Shape;434;p13"/>
          <p:cNvSpPr/>
          <p:nvPr/>
        </p:nvSpPr>
        <p:spPr>
          <a:xfrm>
            <a:off x="571500" y="3048000"/>
            <a:ext cx="4572000" cy="952500"/>
          </a:xfrm>
          <a:prstGeom prst="roundRect">
            <a:avLst>
              <a:gd fmla="val 12000" name="adj"/>
            </a:avLst>
          </a:prstGeom>
          <a:solidFill>
            <a:srgbClr val="1E40A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13"/>
          <p:cNvSpPr/>
          <p:nvPr/>
        </p:nvSpPr>
        <p:spPr>
          <a:xfrm>
            <a:off x="762000" y="3143250"/>
            <a:ext cx="4191000" cy="762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n-US" sz="1500">
                <a:solidFill>
                  <a:srgbClr val="FFFFFF"/>
                </a:solidFill>
                <a:latin typeface="Inter"/>
                <a:ea typeface="Inter"/>
                <a:cs typeface="Inter"/>
                <a:sym typeface="Inter"/>
              </a:rPr>
              <a:t>The framework scales across platforms; each embodiment introduces new sensing and deployment challenges.</a:t>
            </a:r>
            <a:endParaRPr b="1" sz="1500">
              <a:solidFill>
                <a:srgbClr val="FFFFFF"/>
              </a:solidFill>
              <a:latin typeface="Inter"/>
              <a:ea typeface="Inter"/>
              <a:cs typeface="Inter"/>
              <a:sym typeface="Inter"/>
            </a:endParaRPr>
          </a:p>
        </p:txBody>
      </p:sp>
      <p:sp>
        <p:nvSpPr>
          <p:cNvPr id="436" name="Google Shape;436;p13"/>
          <p:cNvSpPr/>
          <p:nvPr/>
        </p:nvSpPr>
        <p:spPr>
          <a:xfrm>
            <a:off x="5905500" y="571500"/>
            <a:ext cx="5715000" cy="5715000"/>
          </a:xfrm>
          <a:prstGeom prst="roundRect">
            <a:avLst>
              <a:gd fmla="val 3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Robot Car" id="437" name="Google Shape;437;p13"/>
          <p:cNvPicPr preferRelativeResize="0"/>
          <p:nvPr/>
        </p:nvPicPr>
        <p:blipFill rotWithShape="1">
          <a:blip r:embed="rId4">
            <a:alphaModFix/>
          </a:blip>
          <a:srcRect b="0" l="0" r="0" t="0"/>
          <a:stretch/>
        </p:blipFill>
        <p:spPr>
          <a:xfrm>
            <a:off x="6150093" y="1130870"/>
            <a:ext cx="1225298" cy="694945"/>
          </a:xfrm>
          <a:prstGeom prst="rect">
            <a:avLst/>
          </a:prstGeom>
          <a:noFill/>
          <a:ln>
            <a:noFill/>
          </a:ln>
        </p:spPr>
      </p:pic>
      <p:sp>
        <p:nvSpPr>
          <p:cNvPr id="438" name="Google Shape;438;p13"/>
          <p:cNvSpPr/>
          <p:nvPr/>
        </p:nvSpPr>
        <p:spPr>
          <a:xfrm>
            <a:off x="6096000" y="762000"/>
            <a:ext cx="5334000" cy="2859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000">
                <a:solidFill>
                  <a:srgbClr val="64748B"/>
                </a:solidFill>
                <a:latin typeface="Inter"/>
                <a:ea typeface="Inter"/>
                <a:cs typeface="Inter"/>
                <a:sym typeface="Inter"/>
              </a:rPr>
              <a:t>PLATFORM EVOLUTION</a:t>
            </a:r>
            <a:endParaRPr b="1" sz="1000">
              <a:solidFill>
                <a:srgbClr val="64748B"/>
              </a:solidFill>
              <a:latin typeface="Inter"/>
              <a:ea typeface="Inter"/>
              <a:cs typeface="Inter"/>
              <a:sym typeface="Inter"/>
            </a:endParaRPr>
          </a:p>
        </p:txBody>
      </p:sp>
      <p:sp>
        <p:nvSpPr>
          <p:cNvPr id="439" name="Google Shape;439;p13"/>
          <p:cNvSpPr/>
          <p:nvPr/>
        </p:nvSpPr>
        <p:spPr>
          <a:xfrm>
            <a:off x="7429500" y="1238250"/>
            <a:ext cx="3429000" cy="571500"/>
          </a:xfrm>
          <a:prstGeom prst="roundRect">
            <a:avLst>
              <a:gd fmla="val 16666" name="adj"/>
            </a:avLst>
          </a:prstGeom>
          <a:solidFill>
            <a:srgbClr val="EFF6FF"/>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13"/>
          <p:cNvSpPr/>
          <p:nvPr/>
        </p:nvSpPr>
        <p:spPr>
          <a:xfrm>
            <a:off x="7524750" y="1238250"/>
            <a:ext cx="3238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1E3A8A"/>
                </a:solidFill>
                <a:latin typeface="Inter"/>
                <a:ea typeface="Inter"/>
                <a:cs typeface="Inter"/>
                <a:sym typeface="Inter"/>
              </a:rPr>
              <a:t>Robot Car</a:t>
            </a:r>
            <a:endParaRPr b="1" sz="1300">
              <a:solidFill>
                <a:srgbClr val="1E3A8A"/>
              </a:solidFill>
              <a:latin typeface="Inter"/>
              <a:ea typeface="Inter"/>
              <a:cs typeface="Inter"/>
              <a:sym typeface="Inter"/>
            </a:endParaRPr>
          </a:p>
        </p:txBody>
      </p:sp>
      <p:pic>
        <p:nvPicPr>
          <p:cNvPr id="441" name="Google Shape;441;p13"/>
          <p:cNvPicPr preferRelativeResize="0"/>
          <p:nvPr/>
        </p:nvPicPr>
        <p:blipFill rotWithShape="1">
          <a:blip r:embed="rId5">
            <a:alphaModFix/>
          </a:blip>
          <a:srcRect b="0" l="0" r="0" t="0"/>
          <a:stretch/>
        </p:blipFill>
        <p:spPr>
          <a:xfrm>
            <a:off x="6286500" y="2000250"/>
            <a:ext cx="952500" cy="571500"/>
          </a:xfrm>
          <a:prstGeom prst="roundRect">
            <a:avLst>
              <a:gd fmla="val 13333" name="adj"/>
            </a:avLst>
          </a:prstGeom>
          <a:noFill/>
          <a:ln>
            <a:noFill/>
          </a:ln>
        </p:spPr>
      </p:pic>
      <p:pic>
        <p:nvPicPr>
          <p:cNvPr descr="Tracked Robot" id="442" name="Google Shape;442;p13"/>
          <p:cNvPicPr preferRelativeResize="0"/>
          <p:nvPr/>
        </p:nvPicPr>
        <p:blipFill rotWithShape="1">
          <a:blip r:embed="rId5">
            <a:alphaModFix/>
          </a:blip>
          <a:srcRect b="0" l="0" r="0" t="0"/>
          <a:stretch/>
        </p:blipFill>
        <p:spPr>
          <a:xfrm>
            <a:off x="6144768" y="1908811"/>
            <a:ext cx="1225298" cy="694945"/>
          </a:xfrm>
          <a:prstGeom prst="rect">
            <a:avLst/>
          </a:prstGeom>
          <a:noFill/>
          <a:ln>
            <a:noFill/>
          </a:ln>
        </p:spPr>
      </p:pic>
      <p:sp>
        <p:nvSpPr>
          <p:cNvPr id="443" name="Google Shape;443;p13"/>
          <p:cNvSpPr/>
          <p:nvPr/>
        </p:nvSpPr>
        <p:spPr>
          <a:xfrm>
            <a:off x="7429500" y="2000250"/>
            <a:ext cx="3429000" cy="571500"/>
          </a:xfrm>
          <a:prstGeom prst="roundRect">
            <a:avLst>
              <a:gd fmla="val 16666" name="adj"/>
            </a:avLst>
          </a:prstGeom>
          <a:solidFill>
            <a:srgbClr val="EFF6FF"/>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3"/>
          <p:cNvSpPr/>
          <p:nvPr/>
        </p:nvSpPr>
        <p:spPr>
          <a:xfrm>
            <a:off x="7524750" y="2000250"/>
            <a:ext cx="3238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1E3A8A"/>
                </a:solidFill>
                <a:latin typeface="Inter"/>
                <a:ea typeface="Inter"/>
                <a:cs typeface="Inter"/>
                <a:sym typeface="Inter"/>
              </a:rPr>
              <a:t>Tracked Robot</a:t>
            </a:r>
            <a:endParaRPr b="1" sz="1300">
              <a:solidFill>
                <a:srgbClr val="1E3A8A"/>
              </a:solidFill>
              <a:latin typeface="Inter"/>
              <a:ea typeface="Inter"/>
              <a:cs typeface="Inter"/>
              <a:sym typeface="Inter"/>
            </a:endParaRPr>
          </a:p>
        </p:txBody>
      </p:sp>
      <p:sp>
        <p:nvSpPr>
          <p:cNvPr id="445" name="Google Shape;445;p13"/>
          <p:cNvSpPr/>
          <p:nvPr/>
        </p:nvSpPr>
        <p:spPr>
          <a:xfrm>
            <a:off x="6286500" y="2857500"/>
            <a:ext cx="4572000" cy="571500"/>
          </a:xfrm>
          <a:prstGeom prst="roundRect">
            <a:avLst>
              <a:gd fmla="val 16666" name="adj"/>
            </a:avLst>
          </a:prstGeom>
          <a:solidFill>
            <a:srgbClr val="FFF7ED"/>
          </a:solidFill>
          <a:ln cap="flat" cmpd="sng" w="19050">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6" name="Google Shape;446;p13"/>
          <p:cNvSpPr/>
          <p:nvPr/>
        </p:nvSpPr>
        <p:spPr>
          <a:xfrm>
            <a:off x="6381750" y="2857500"/>
            <a:ext cx="438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300">
                <a:solidFill>
                  <a:srgbClr val="7C2D12"/>
                </a:solidFill>
                <a:latin typeface="Inter ExtraBold"/>
                <a:ea typeface="Inter ExtraBold"/>
                <a:cs typeface="Inter ExtraBold"/>
                <a:sym typeface="Inter ExtraBold"/>
              </a:rPr>
              <a:t>Ground Robotics</a:t>
            </a:r>
            <a:endParaRPr b="0" sz="1300">
              <a:solidFill>
                <a:srgbClr val="7C2D12"/>
              </a:solidFill>
              <a:latin typeface="Inter ExtraBold"/>
              <a:ea typeface="Inter ExtraBold"/>
              <a:cs typeface="Inter ExtraBold"/>
              <a:sym typeface="Inter ExtraBold"/>
            </a:endParaRPr>
          </a:p>
        </p:txBody>
      </p:sp>
      <p:sp>
        <p:nvSpPr>
          <p:cNvPr id="447" name="Google Shape;447;p13"/>
          <p:cNvSpPr/>
          <p:nvPr/>
        </p:nvSpPr>
        <p:spPr>
          <a:xfrm>
            <a:off x="6286500" y="3714750"/>
            <a:ext cx="4572000" cy="571500"/>
          </a:xfrm>
          <a:prstGeom prst="roundRect">
            <a:avLst>
              <a:gd fmla="val 16666" name="adj"/>
            </a:avLst>
          </a:prstGeom>
          <a:solidFill>
            <a:srgbClr val="EFF6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8" name="Google Shape;448;p13"/>
          <p:cNvSpPr/>
          <p:nvPr/>
        </p:nvSpPr>
        <p:spPr>
          <a:xfrm>
            <a:off x="6381750" y="3714750"/>
            <a:ext cx="438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300">
                <a:solidFill>
                  <a:srgbClr val="1E3A8A"/>
                </a:solidFill>
                <a:latin typeface="Inter ExtraBold"/>
                <a:ea typeface="Inter ExtraBold"/>
                <a:cs typeface="Inter ExtraBold"/>
                <a:sym typeface="Inter ExtraBold"/>
              </a:rPr>
              <a:t>Aerial Robotics</a:t>
            </a:r>
            <a:endParaRPr b="0" sz="1300">
              <a:solidFill>
                <a:srgbClr val="1E3A8A"/>
              </a:solidFill>
              <a:latin typeface="Inter ExtraBold"/>
              <a:ea typeface="Inter ExtraBold"/>
              <a:cs typeface="Inter ExtraBold"/>
              <a:sym typeface="Inter ExtraBold"/>
            </a:endParaRPr>
          </a:p>
        </p:txBody>
      </p:sp>
      <p:sp>
        <p:nvSpPr>
          <p:cNvPr id="449" name="Google Shape;449;p13"/>
          <p:cNvSpPr/>
          <p:nvPr/>
        </p:nvSpPr>
        <p:spPr>
          <a:xfrm>
            <a:off x="6286500" y="4572000"/>
            <a:ext cx="4572000" cy="571500"/>
          </a:xfrm>
          <a:prstGeom prst="roundRect">
            <a:avLst>
              <a:gd fmla="val 16666" name="adj"/>
            </a:avLst>
          </a:prstGeom>
          <a:solidFill>
            <a:srgbClr val="ECFDF5"/>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13"/>
          <p:cNvSpPr/>
          <p:nvPr/>
        </p:nvSpPr>
        <p:spPr>
          <a:xfrm>
            <a:off x="6381750" y="4572000"/>
            <a:ext cx="43815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0" lang="en-US" sz="1300">
                <a:solidFill>
                  <a:srgbClr val="064E3B"/>
                </a:solidFill>
                <a:latin typeface="Inter ExtraBold"/>
                <a:ea typeface="Inter ExtraBold"/>
                <a:cs typeface="Inter ExtraBold"/>
                <a:sym typeface="Inter ExtraBold"/>
              </a:rPr>
              <a:t>Collaborative Systems</a:t>
            </a:r>
            <a:endParaRPr b="0" sz="1300">
              <a:solidFill>
                <a:srgbClr val="064E3B"/>
              </a:solidFill>
              <a:latin typeface="Inter ExtraBold"/>
              <a:ea typeface="Inter ExtraBold"/>
              <a:cs typeface="Inter ExtraBold"/>
              <a:sym typeface="Inter ExtraBold"/>
            </a:endParaRPr>
          </a:p>
        </p:txBody>
      </p:sp>
      <p:grpSp>
        <p:nvGrpSpPr>
          <p:cNvPr id="451" name="Google Shape;451;p13"/>
          <p:cNvGrpSpPr/>
          <p:nvPr/>
        </p:nvGrpSpPr>
        <p:grpSpPr>
          <a:xfrm>
            <a:off x="8572500" y="1809750"/>
            <a:ext cx="0" cy="2762400"/>
            <a:chOff x="8572500" y="1809750"/>
            <a:chExt cx="0" cy="2762400"/>
          </a:xfrm>
        </p:grpSpPr>
        <p:cxnSp>
          <p:nvCxnSpPr>
            <p:cNvPr id="452" name="Google Shape;452;p13"/>
            <p:cNvCxnSpPr/>
            <p:nvPr/>
          </p:nvCxnSpPr>
          <p:spPr>
            <a:xfrm>
              <a:off x="8572500" y="1809750"/>
              <a:ext cx="0" cy="190500"/>
            </a:xfrm>
            <a:prstGeom prst="straightConnector1">
              <a:avLst/>
            </a:prstGeom>
            <a:solidFill>
              <a:srgbClr val="FFFFFF"/>
            </a:solidFill>
            <a:ln cap="flat" cmpd="sng" w="19050">
              <a:solidFill>
                <a:srgbClr val="CBD5E1"/>
              </a:solidFill>
              <a:prstDash val="solid"/>
              <a:round/>
              <a:headEnd len="sm" w="sm" type="none"/>
              <a:tailEnd len="sm" w="sm" type="none"/>
            </a:ln>
          </p:spPr>
        </p:cxnSp>
        <p:cxnSp>
          <p:nvCxnSpPr>
            <p:cNvPr id="453" name="Google Shape;453;p13"/>
            <p:cNvCxnSpPr/>
            <p:nvPr/>
          </p:nvCxnSpPr>
          <p:spPr>
            <a:xfrm>
              <a:off x="8572500" y="2571750"/>
              <a:ext cx="0" cy="285900"/>
            </a:xfrm>
            <a:prstGeom prst="straightConnector1">
              <a:avLst/>
            </a:prstGeom>
            <a:solidFill>
              <a:srgbClr val="FFFFFF"/>
            </a:solidFill>
            <a:ln cap="flat" cmpd="sng" w="19050">
              <a:solidFill>
                <a:srgbClr val="CBD5E1"/>
              </a:solidFill>
              <a:prstDash val="solid"/>
              <a:round/>
              <a:headEnd len="sm" w="sm" type="none"/>
              <a:tailEnd len="sm" w="sm" type="none"/>
            </a:ln>
          </p:spPr>
        </p:cxnSp>
        <p:cxnSp>
          <p:nvCxnSpPr>
            <p:cNvPr id="454" name="Google Shape;454;p13"/>
            <p:cNvCxnSpPr/>
            <p:nvPr/>
          </p:nvCxnSpPr>
          <p:spPr>
            <a:xfrm>
              <a:off x="8572500" y="3429000"/>
              <a:ext cx="0" cy="285900"/>
            </a:xfrm>
            <a:prstGeom prst="straightConnector1">
              <a:avLst/>
            </a:prstGeom>
            <a:solidFill>
              <a:srgbClr val="FFFFFF"/>
            </a:solidFill>
            <a:ln cap="flat" cmpd="sng" w="19050">
              <a:solidFill>
                <a:srgbClr val="CBD5E1"/>
              </a:solidFill>
              <a:prstDash val="solid"/>
              <a:round/>
              <a:headEnd len="sm" w="sm" type="none"/>
              <a:tailEnd len="sm" w="sm" type="none"/>
            </a:ln>
          </p:spPr>
        </p:cxnSp>
        <p:cxnSp>
          <p:nvCxnSpPr>
            <p:cNvPr id="455" name="Google Shape;455;p13"/>
            <p:cNvCxnSpPr/>
            <p:nvPr/>
          </p:nvCxnSpPr>
          <p:spPr>
            <a:xfrm>
              <a:off x="8572500" y="4286250"/>
              <a:ext cx="0" cy="285900"/>
            </a:xfrm>
            <a:prstGeom prst="straightConnector1">
              <a:avLst/>
            </a:prstGeom>
            <a:solidFill>
              <a:srgbClr val="FFFFFF"/>
            </a:solidFill>
            <a:ln cap="flat" cmpd="sng" w="19050">
              <a:solidFill>
                <a:srgbClr val="CBD5E1"/>
              </a:solidFill>
              <a:prstDash val="solid"/>
              <a:round/>
              <a:headEnd len="sm" w="sm" type="none"/>
              <a:tailEnd len="sm" w="sm" type="none"/>
            </a:ln>
          </p:spPr>
        </p:cxnSp>
      </p:grpSp>
      <p:sp>
        <p:nvSpPr>
          <p:cNvPr id="456" name="Google Shape;456;p13"/>
          <p:cNvSpPr/>
          <p:nvPr/>
        </p:nvSpPr>
        <p:spPr>
          <a:xfrm>
            <a:off x="571500" y="5238750"/>
            <a:ext cx="11049000" cy="1143000"/>
          </a:xfrm>
          <a:prstGeom prst="roundRect">
            <a:avLst>
              <a:gd fmla="val 13333"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13"/>
          <p:cNvSpPr/>
          <p:nvPr/>
        </p:nvSpPr>
        <p:spPr>
          <a:xfrm>
            <a:off x="762000" y="5334000"/>
            <a:ext cx="10668000" cy="3810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300">
                <a:solidFill>
                  <a:srgbClr val="3B82F6"/>
                </a:solidFill>
                <a:latin typeface="Inter"/>
                <a:ea typeface="Inter"/>
                <a:cs typeface="Inter"/>
                <a:sym typeface="Inter"/>
              </a:rPr>
              <a:t>DISCUSSION</a:t>
            </a:r>
            <a:endParaRPr b="1" sz="1300">
              <a:solidFill>
                <a:srgbClr val="3B82F6"/>
              </a:solidFill>
              <a:latin typeface="Inter"/>
              <a:ea typeface="Inter"/>
              <a:cs typeface="Inter"/>
              <a:sym typeface="Inter"/>
            </a:endParaRPr>
          </a:p>
        </p:txBody>
      </p:sp>
      <p:sp>
        <p:nvSpPr>
          <p:cNvPr id="458" name="Google Shape;458;p13"/>
          <p:cNvSpPr/>
          <p:nvPr/>
        </p:nvSpPr>
        <p:spPr>
          <a:xfrm>
            <a:off x="762000" y="5715000"/>
            <a:ext cx="106680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ctr">
              <a:spcBef>
                <a:spcPts val="0"/>
              </a:spcBef>
              <a:spcAft>
                <a:spcPts val="0"/>
              </a:spcAft>
              <a:buNone/>
            </a:pPr>
            <a:r>
              <a:rPr b="1" lang="en-US" sz="1800">
                <a:solidFill>
                  <a:srgbClr val="FFFFFF"/>
                </a:solidFill>
                <a:latin typeface="Inter"/>
                <a:ea typeface="Inter"/>
                <a:cs typeface="Inter"/>
                <a:sym typeface="Inter"/>
              </a:rPr>
              <a:t>Which platform is the best next step for extending the framework?</a:t>
            </a:r>
            <a:endParaRPr b="1" sz="18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2026-06-09T06:21:56Z</dcterms:created>
  <dc:creator>Ismaele Carbonari</dc:creator>
</cp:coreProperties>
</file>